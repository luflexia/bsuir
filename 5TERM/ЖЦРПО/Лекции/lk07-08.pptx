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6" r:id="rId17"/>
    <p:sldId id="277" r:id="rId18"/>
    <p:sldId id="278" r:id="rId19"/>
    <p:sldId id="272" r:id="rId20"/>
    <p:sldId id="279" r:id="rId21"/>
    <p:sldId id="280" r:id="rId22"/>
    <p:sldId id="273" r:id="rId23"/>
    <p:sldId id="274" r:id="rId24"/>
    <p:sldId id="275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16" r:id="rId50"/>
    <p:sldId id="305" r:id="rId51"/>
    <p:sldId id="307" r:id="rId52"/>
    <p:sldId id="306" r:id="rId53"/>
    <p:sldId id="308" r:id="rId54"/>
    <p:sldId id="309" r:id="rId55"/>
    <p:sldId id="310" r:id="rId56"/>
    <p:sldId id="311" r:id="rId57"/>
    <p:sldId id="312" r:id="rId58"/>
    <p:sldId id="315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14" r:id="rId70"/>
    <p:sldId id="313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1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5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0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7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7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6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11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4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5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B9F61-CB6F-4276-BDF9-A790D4E89282}" type="datetimeFigureOut">
              <a:rPr lang="en-US" smtClean="0"/>
              <a:t>11/21/2020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8452C-D17B-4DD7-8D3E-579E5E5F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3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refactoring.guru/cargo-cul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-419100"/>
            <a:ext cx="10258425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4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4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5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6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5" y="-40390"/>
            <a:ext cx="9192169" cy="689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-423863"/>
            <a:ext cx="10267950" cy="77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7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Порождающие паттерны </a:t>
            </a:r>
            <a:r>
              <a:rPr lang="ru-RU" b="1" dirty="0" smtClean="0"/>
              <a:t>проектирования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Фабричный </a:t>
            </a:r>
            <a:r>
              <a:rPr lang="ru-RU" b="1" dirty="0" smtClean="0"/>
              <a:t>метод</a:t>
            </a:r>
            <a:r>
              <a:rPr lang="en-US" b="1" dirty="0" smtClean="0"/>
              <a:t> (</a:t>
            </a:r>
            <a:r>
              <a:rPr lang="en-US" dirty="0"/>
              <a:t>Factory </a:t>
            </a:r>
            <a:r>
              <a:rPr lang="en-US" dirty="0" smtClean="0"/>
              <a:t>Method)</a:t>
            </a:r>
            <a:endParaRPr lang="ru-RU" b="1" dirty="0"/>
          </a:p>
          <a:p>
            <a:r>
              <a:rPr lang="ru-RU" b="1" dirty="0"/>
              <a:t>Абстрактная </a:t>
            </a:r>
            <a:r>
              <a:rPr lang="ru-RU" b="1" dirty="0" smtClean="0"/>
              <a:t>фабрика</a:t>
            </a:r>
            <a:r>
              <a:rPr lang="en-US" dirty="0" smtClean="0"/>
              <a:t> (</a:t>
            </a:r>
            <a:r>
              <a:rPr lang="en-US" dirty="0"/>
              <a:t>Abstract Factory</a:t>
            </a:r>
            <a:r>
              <a:rPr lang="en-US" dirty="0" smtClean="0"/>
              <a:t>)</a:t>
            </a:r>
          </a:p>
          <a:p>
            <a:r>
              <a:rPr lang="ru-RU" b="1" dirty="0" smtClean="0"/>
              <a:t>Строитель</a:t>
            </a:r>
            <a:r>
              <a:rPr lang="en-US" b="1" dirty="0" smtClean="0"/>
              <a:t> (</a:t>
            </a:r>
            <a:r>
              <a:rPr lang="en-US" dirty="0"/>
              <a:t>Builder</a:t>
            </a:r>
            <a:r>
              <a:rPr lang="en-US" b="1" dirty="0" smtClean="0"/>
              <a:t>)</a:t>
            </a:r>
            <a:endParaRPr lang="ru-RU" b="1" dirty="0"/>
          </a:p>
          <a:p>
            <a:r>
              <a:rPr lang="ru-RU" b="1" dirty="0" smtClean="0"/>
              <a:t>Прототип</a:t>
            </a:r>
            <a:r>
              <a:rPr lang="en-US" b="1" dirty="0" smtClean="0"/>
              <a:t> (</a:t>
            </a:r>
            <a:r>
              <a:rPr lang="en-US" dirty="0"/>
              <a:t>Prototype</a:t>
            </a:r>
            <a:r>
              <a:rPr lang="en-US" b="1" dirty="0" smtClean="0"/>
              <a:t>)</a:t>
            </a:r>
            <a:endParaRPr lang="ru-RU" b="1" dirty="0"/>
          </a:p>
          <a:p>
            <a:r>
              <a:rPr lang="ru-RU" b="1" dirty="0" smtClean="0"/>
              <a:t>Одиночка</a:t>
            </a:r>
            <a:r>
              <a:rPr lang="en-US" b="1" dirty="0" smtClean="0"/>
              <a:t> (</a:t>
            </a:r>
            <a:r>
              <a:rPr lang="en-US" dirty="0"/>
              <a:t>Singleton</a:t>
            </a:r>
            <a:r>
              <a:rPr lang="en-US" b="1" dirty="0" smtClean="0"/>
              <a:t>)</a:t>
            </a:r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27217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Фабричный </a:t>
            </a:r>
            <a:r>
              <a:rPr lang="ru-RU" b="1" dirty="0" smtClean="0"/>
              <a:t>метод</a:t>
            </a:r>
            <a:r>
              <a:rPr lang="en-US" b="1" dirty="0" smtClean="0"/>
              <a:t> (</a:t>
            </a:r>
            <a:r>
              <a:rPr lang="en-US" dirty="0" smtClean="0"/>
              <a:t>Factory Method)</a:t>
            </a:r>
            <a:r>
              <a:rPr lang="en-US" b="1" dirty="0" smtClean="0"/>
              <a:t> </a:t>
            </a:r>
            <a:endParaRPr lang="en-US" dirty="0"/>
          </a:p>
        </p:txBody>
      </p:sp>
      <p:pic>
        <p:nvPicPr>
          <p:cNvPr id="1026" name="Picture 2" descr="Паттерн Фабричный&amp;nbsp;мето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053" y="1619568"/>
            <a:ext cx="8029893" cy="501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088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Фабричный метод</a:t>
            </a:r>
            <a:r>
              <a:rPr lang="en-US" b="1" dirty="0" smtClean="0"/>
              <a:t> (</a:t>
            </a:r>
            <a:r>
              <a:rPr lang="en-US" dirty="0" smtClean="0"/>
              <a:t>Factory Method)</a:t>
            </a:r>
            <a:r>
              <a:rPr lang="en-US" b="1" dirty="0" smtClean="0"/>
              <a:t> </a:t>
            </a:r>
            <a:endParaRPr lang="en-US" dirty="0"/>
          </a:p>
        </p:txBody>
      </p:sp>
      <p:pic>
        <p:nvPicPr>
          <p:cNvPr id="4" name="Picture 4" descr="Структура классов-создателе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" y="2136299"/>
            <a:ext cx="5905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Структура иерархии продукт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870" y="1905953"/>
            <a:ext cx="5492108" cy="280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35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Фабричный метод</a:t>
            </a:r>
            <a:r>
              <a:rPr lang="en-US" b="1" dirty="0" smtClean="0"/>
              <a:t> (</a:t>
            </a:r>
            <a:r>
              <a:rPr lang="en-US" dirty="0" smtClean="0"/>
              <a:t>Factory Method)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76640" y="1889760"/>
            <a:ext cx="3251200" cy="4704079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Продукт</a:t>
            </a:r>
            <a:r>
              <a:rPr lang="ru-RU" dirty="0"/>
              <a:t> определяет общий интерфейс объектов, которые может произвести создатель и его подклассы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Конкретные продукты</a:t>
            </a:r>
            <a:r>
              <a:rPr lang="ru-RU" dirty="0"/>
              <a:t> содержат код различных продуктов. Продукты будут отличаться реализацией, но интерфейс у них будет </a:t>
            </a:r>
            <a:r>
              <a:rPr lang="ru-RU" dirty="0" smtClean="0"/>
              <a:t>общий.</a:t>
            </a:r>
            <a:endParaRPr lang="en-US" dirty="0" smtClean="0"/>
          </a:p>
          <a:p>
            <a:r>
              <a:rPr lang="ru-RU" b="1" dirty="0" smtClean="0"/>
              <a:t>Создатель</a:t>
            </a:r>
            <a:r>
              <a:rPr lang="ru-RU" dirty="0"/>
              <a:t> объявляет фабричный метод, который должен возвращать новые объекты продуктов. Важно, чтобы тип результата совпадал с общим интерфейсом продуктов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Конкретные создатели</a:t>
            </a:r>
            <a:r>
              <a:rPr lang="ru-RU" dirty="0"/>
              <a:t> по-своему реализуют фабричный метод, производя те или иные конкретные продукты.</a:t>
            </a:r>
            <a:endParaRPr lang="en-US" dirty="0"/>
          </a:p>
        </p:txBody>
      </p:sp>
      <p:pic>
        <p:nvPicPr>
          <p:cNvPr id="3074" name="Picture 2" descr="Структура классов паттерна Фабричный мето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" y="1810860"/>
            <a:ext cx="8111490" cy="467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36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 Преимущества и </a:t>
            </a:r>
            <a:r>
              <a:rPr lang="ru-RU" b="1" dirty="0" smtClean="0"/>
              <a:t>недостатки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Избавляет класс от привязки к конкретным классам продуктов.</a:t>
            </a:r>
          </a:p>
          <a:p>
            <a:r>
              <a:rPr lang="ru-RU" dirty="0"/>
              <a:t> Выделяет код производства продуктов в одно место, упрощая поддержку кода.</a:t>
            </a:r>
          </a:p>
          <a:p>
            <a:r>
              <a:rPr lang="ru-RU" dirty="0"/>
              <a:t> Упрощает добавление новых продуктов в программу.</a:t>
            </a:r>
          </a:p>
          <a:p>
            <a:r>
              <a:rPr lang="ru-RU" dirty="0"/>
              <a:t> Реализует </a:t>
            </a:r>
            <a:r>
              <a:rPr lang="ru-RU" i="1" dirty="0"/>
              <a:t>принцип открытости/закрытости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 Может привести к созданию больших </a:t>
            </a:r>
            <a:r>
              <a:rPr lang="ru-RU" b="1" dirty="0"/>
              <a:t>параллельных иерархий классов</a:t>
            </a:r>
            <a:r>
              <a:rPr lang="ru-RU" dirty="0"/>
              <a:t>, так как для каждого класса продукта надо создать свой подкласс создателя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25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Абстрактная фабрика</a:t>
            </a:r>
            <a:r>
              <a:rPr lang="en-US" dirty="0" smtClean="0"/>
              <a:t> (Abstract Factory)</a:t>
            </a:r>
            <a:endParaRPr lang="en-US" dirty="0"/>
          </a:p>
        </p:txBody>
      </p:sp>
      <p:pic>
        <p:nvPicPr>
          <p:cNvPr id="4098" name="Picture 2" descr="Паттерн Абстрактная&amp;nbsp;фабрик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0" y="1690688"/>
            <a:ext cx="798576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98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Абстрактная фабрика</a:t>
            </a:r>
            <a:r>
              <a:rPr lang="en-US" dirty="0" smtClean="0"/>
              <a:t> (Abstract Factory)</a:t>
            </a:r>
            <a:endParaRPr lang="en-US" dirty="0"/>
          </a:p>
        </p:txBody>
      </p:sp>
      <p:pic>
        <p:nvPicPr>
          <p:cNvPr id="5122" name="Picture 2" descr="Таблица соответствия семейства продуктам к их вариациям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55" y="1690688"/>
            <a:ext cx="5158805" cy="356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refactoring.guru/images/patterns/content/abstract-factory/abstract-factory-comic-1-ru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60" y="3647440"/>
            <a:ext cx="6568440" cy="328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84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Абстрактная фабрика</a:t>
            </a:r>
            <a:r>
              <a:rPr lang="en-US" dirty="0" smtClean="0"/>
              <a:t> (Abstract Factory)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18960" y="1473200"/>
            <a:ext cx="4434840" cy="5313363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Абстрактные продукты</a:t>
            </a:r>
            <a:r>
              <a:rPr lang="ru-RU" dirty="0"/>
              <a:t> объявляют интерфейсы продуктов, которые связаны друг с другом по смыслу, но выполняют разные функции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Конкретные продукты</a:t>
            </a:r>
            <a:r>
              <a:rPr lang="ru-RU" dirty="0"/>
              <a:t> — большой набор классов, которые относятся к различным абстрактным продуктам (кресло/столик), но имеют одни и те же вариации (Викторианский/Модерн</a:t>
            </a:r>
            <a:r>
              <a:rPr lang="ru-RU" dirty="0" smtClean="0"/>
              <a:t>).</a:t>
            </a:r>
            <a:endParaRPr lang="en-US" dirty="0" smtClean="0"/>
          </a:p>
          <a:p>
            <a:r>
              <a:rPr lang="ru-RU" b="1" dirty="0"/>
              <a:t>Абстрактная фабрика</a:t>
            </a:r>
            <a:r>
              <a:rPr lang="ru-RU" dirty="0"/>
              <a:t> объявляет методы создания различных абстрактных продуктов (кресло/столик</a:t>
            </a:r>
            <a:r>
              <a:rPr lang="ru-RU" dirty="0" smtClean="0"/>
              <a:t>).</a:t>
            </a:r>
            <a:endParaRPr lang="en-US" dirty="0" smtClean="0"/>
          </a:p>
          <a:p>
            <a:r>
              <a:rPr lang="ru-RU" b="1" dirty="0"/>
              <a:t>Конкретные фабрики</a:t>
            </a:r>
            <a:r>
              <a:rPr lang="ru-RU" dirty="0"/>
              <a:t> относятся каждая к своей вариации продуктов (Викторианский/Модерн) и реализуют методы абстрактной фабрики, позволяя создавать все продукты определённой вариации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/>
              <a:t>Несмотря на то, что конкретные фабрики порождают конкретные продукты, сигнатуры их методов должны возвращать соответствующие абстрактные продукты. Это позволит клиентскому коду, использующему фабрику, не привязываться к конкретным классам продуктов. Клиент сможет работать с любыми вариациями продуктов через абстрактные интерфейсы.</a:t>
            </a:r>
            <a:endParaRPr lang="en-US" dirty="0"/>
          </a:p>
        </p:txBody>
      </p:sp>
      <p:pic>
        <p:nvPicPr>
          <p:cNvPr id="6146" name="Picture 2" descr="Структура классов паттерна Абстрактная фабрик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244600"/>
            <a:ext cx="6858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361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Строитель</a:t>
            </a:r>
            <a:r>
              <a:rPr lang="en-US" b="1" dirty="0" smtClean="0"/>
              <a:t> (</a:t>
            </a:r>
            <a:r>
              <a:rPr lang="en-US" dirty="0" smtClean="0"/>
              <a:t>Builder</a:t>
            </a:r>
            <a:r>
              <a:rPr lang="en-US" b="1" dirty="0" smtClean="0"/>
              <a:t>)</a:t>
            </a:r>
            <a:endParaRPr lang="ru-RU" b="1" dirty="0"/>
          </a:p>
        </p:txBody>
      </p:sp>
      <p:pic>
        <p:nvPicPr>
          <p:cNvPr id="7172" name="Picture 4" descr="Паттерн&amp;nbsp;Стро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80" y="1690688"/>
            <a:ext cx="782320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904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11266" name="Picture 2" descr="Проблема со множеством классов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930" y="1690688"/>
            <a:ext cx="7978140" cy="465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847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12290" name="Picture 2" descr="Применение паттерна Стро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567" y="1946434"/>
            <a:ext cx="6412865" cy="437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50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19700" y="365124"/>
            <a:ext cx="6779260" cy="6398419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Интерфейс строителя</a:t>
            </a:r>
            <a:r>
              <a:rPr lang="ru-RU" dirty="0"/>
              <a:t> объявляет шаги конструирования продуктов, общие для всех видов строителей</a:t>
            </a:r>
            <a:r>
              <a:rPr lang="ru-RU" dirty="0" smtClean="0"/>
              <a:t>.</a:t>
            </a:r>
          </a:p>
          <a:p>
            <a:r>
              <a:rPr lang="ru-RU" b="1" dirty="0"/>
              <a:t>Конкретные строители</a:t>
            </a:r>
            <a:r>
              <a:rPr lang="ru-RU" dirty="0"/>
              <a:t> реализуют строительные шаги, каждый по-своему. Конкретные строители могут производить разнородные объекты, не имеющие общего интерфейса</a:t>
            </a:r>
            <a:r>
              <a:rPr lang="ru-RU" dirty="0" smtClean="0"/>
              <a:t>.</a:t>
            </a:r>
          </a:p>
          <a:p>
            <a:r>
              <a:rPr lang="ru-RU" b="1" dirty="0"/>
              <a:t>Продукт</a:t>
            </a:r>
            <a:r>
              <a:rPr lang="ru-RU" dirty="0"/>
              <a:t> — создаваемый объект. Продукты, сделанные разными строителями, не обязаны иметь общий интерфейс</a:t>
            </a:r>
            <a:r>
              <a:rPr lang="ru-RU" dirty="0" smtClean="0"/>
              <a:t>.</a:t>
            </a:r>
          </a:p>
          <a:p>
            <a:r>
              <a:rPr lang="ru-RU" b="1" dirty="0"/>
              <a:t>Директор</a:t>
            </a:r>
            <a:r>
              <a:rPr lang="ru-RU" dirty="0"/>
              <a:t> определяет порядок вызова строительных шагов для производства той или иной конфигурации продуктов</a:t>
            </a:r>
            <a:r>
              <a:rPr lang="ru-RU" dirty="0" smtClean="0"/>
              <a:t>.</a:t>
            </a:r>
          </a:p>
          <a:p>
            <a:r>
              <a:rPr lang="ru-RU" dirty="0"/>
              <a:t>Обычно </a:t>
            </a:r>
            <a:r>
              <a:rPr lang="ru-RU" b="1" dirty="0"/>
              <a:t>Клиент</a:t>
            </a:r>
            <a:r>
              <a:rPr lang="ru-RU" dirty="0"/>
              <a:t> подаёт в конструктор директора уже готовый объект-строитель, и в дальнейшем данный директор использует только его. Но возможен и другой вариант, когда клиент передаёт строителя через параметр строительного метода директора. В этом случае можно каждый раз применять разных строителей для производства различных представлений объектов.</a:t>
            </a:r>
            <a:endParaRPr lang="en-US" dirty="0"/>
          </a:p>
        </p:txBody>
      </p:sp>
      <p:pic>
        <p:nvPicPr>
          <p:cNvPr id="13314" name="Picture 2" descr="Структура классов паттерна Строител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15" y="1239044"/>
            <a:ext cx="438150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553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Прототип</a:t>
            </a:r>
            <a:r>
              <a:rPr lang="en-US" b="1" dirty="0" smtClean="0"/>
              <a:t> (</a:t>
            </a:r>
            <a:r>
              <a:rPr lang="en-US" dirty="0" smtClean="0"/>
              <a:t>Prototype</a:t>
            </a:r>
            <a:r>
              <a:rPr lang="en-US" b="1" dirty="0" smtClean="0"/>
              <a:t>)</a:t>
            </a:r>
            <a:endParaRPr lang="en-US" dirty="0"/>
          </a:p>
        </p:txBody>
      </p:sp>
      <p:pic>
        <p:nvPicPr>
          <p:cNvPr id="14338" name="Picture 2" descr="Паттерн&amp;nbsp;Прототип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1496854"/>
            <a:ext cx="8432800" cy="527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411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362892"/>
            <a:ext cx="10515600" cy="814070"/>
          </a:xfrm>
        </p:spPr>
        <p:txBody>
          <a:bodyPr/>
          <a:lstStyle/>
          <a:p>
            <a:r>
              <a:rPr lang="ru-RU" i="1" dirty="0"/>
              <a:t>Копирование «извне» </a:t>
            </a:r>
            <a:r>
              <a:rPr lang="ru-RU" b="1" i="1" dirty="0">
                <a:hlinkClick r:id="rId2"/>
              </a:rPr>
              <a:t>не всегда</a:t>
            </a:r>
            <a:r>
              <a:rPr lang="ru-RU" i="1" dirty="0"/>
              <a:t> возможно в реальности.</a:t>
            </a:r>
            <a:endParaRPr lang="en-US" dirty="0"/>
          </a:p>
        </p:txBody>
      </p:sp>
      <p:pic>
        <p:nvPicPr>
          <p:cNvPr id="15362" name="Picture 2" descr="Пример неудачного копирования извн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494" y="1412239"/>
            <a:ext cx="7901305" cy="395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414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10960" y="1046480"/>
            <a:ext cx="5659120" cy="540512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Интерфейс прототипов описывает операции клонирования. В большинстве случаев — это единственный метод </a:t>
            </a:r>
            <a:r>
              <a:rPr lang="ru-RU" dirty="0" err="1" smtClean="0"/>
              <a:t>clone</a:t>
            </a:r>
            <a:r>
              <a:rPr lang="ru-RU" dirty="0" smtClean="0"/>
              <a:t>.</a:t>
            </a:r>
          </a:p>
          <a:p>
            <a:r>
              <a:rPr lang="ru-RU" b="1" dirty="0"/>
              <a:t>Конкретный прототип</a:t>
            </a:r>
            <a:r>
              <a:rPr lang="ru-RU" dirty="0"/>
              <a:t> реализует операцию клонирования самого себя. Помимо банального копирования значений всех полей, здесь могут быть спрятаны различные сложности, о которых не нужно знать клиенту. Например, клонирование связанных объектов, распутывание рекурсивных зависимостей и прочее</a:t>
            </a:r>
            <a:r>
              <a:rPr lang="ru-RU" dirty="0" smtClean="0"/>
              <a:t>.</a:t>
            </a:r>
          </a:p>
          <a:p>
            <a:r>
              <a:rPr lang="ru-RU" b="1" dirty="0"/>
              <a:t>Клиент</a:t>
            </a:r>
            <a:r>
              <a:rPr lang="ru-RU" dirty="0"/>
              <a:t> создаёт копию объекта, обращаясь к нему через общий интерфейс прототипов.</a:t>
            </a:r>
            <a:endParaRPr lang="en-US" dirty="0"/>
          </a:p>
        </p:txBody>
      </p:sp>
      <p:pic>
        <p:nvPicPr>
          <p:cNvPr id="16386" name="Picture 2" descr="Структура классов паттерна Прототип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" y="1503679"/>
            <a:ext cx="5841604" cy="467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593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Одиночка</a:t>
            </a:r>
            <a:r>
              <a:rPr lang="en-US" b="1" dirty="0" smtClean="0"/>
              <a:t> (</a:t>
            </a:r>
            <a:r>
              <a:rPr lang="en-US" dirty="0" smtClean="0"/>
              <a:t>Singleton</a:t>
            </a:r>
            <a:r>
              <a:rPr lang="en-US" b="1" dirty="0" smtClean="0"/>
              <a:t>)</a:t>
            </a:r>
            <a:endParaRPr lang="ru-RU" b="1" dirty="0"/>
          </a:p>
        </p:txBody>
      </p:sp>
      <p:pic>
        <p:nvPicPr>
          <p:cNvPr id="8194" name="Picture 2" descr="Паттерн&amp;nbsp;Одиночк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680" y="1862614"/>
            <a:ext cx="715264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954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9218" name="Picture 2" descr="Глобальный доступ к одному объекту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610" y="1690688"/>
            <a:ext cx="9796780" cy="489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472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10242" name="Picture 2" descr="Структура классов паттерна Одиночк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604168"/>
            <a:ext cx="7661910" cy="51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405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Структурные паттерны </a:t>
            </a:r>
            <a:r>
              <a:rPr lang="ru-RU" b="1" dirty="0" smtClean="0"/>
              <a:t>проектирования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Адаптер (</a:t>
            </a:r>
            <a:r>
              <a:rPr lang="en-US" dirty="0" smtClean="0"/>
              <a:t>Adapter</a:t>
            </a:r>
            <a:r>
              <a:rPr lang="ru-RU" dirty="0" smtClean="0"/>
              <a:t>, </a:t>
            </a:r>
            <a:r>
              <a:rPr lang="en-US" dirty="0"/>
              <a:t>Wrapper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Мост (</a:t>
            </a:r>
            <a:r>
              <a:rPr lang="en-US" dirty="0"/>
              <a:t>Bridge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Компоновщик (</a:t>
            </a:r>
            <a:r>
              <a:rPr lang="en-US" dirty="0"/>
              <a:t>Composite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Декоратор (</a:t>
            </a:r>
            <a:r>
              <a:rPr lang="en-US" dirty="0" smtClean="0"/>
              <a:t>Decorator</a:t>
            </a:r>
            <a:r>
              <a:rPr lang="ru-RU" dirty="0" smtClean="0"/>
              <a:t>, </a:t>
            </a:r>
            <a:r>
              <a:rPr lang="en-US" dirty="0" smtClean="0"/>
              <a:t>Wrapper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Фасад (</a:t>
            </a:r>
            <a:r>
              <a:rPr lang="en-US" dirty="0" smtClean="0"/>
              <a:t>Facade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Легковес (</a:t>
            </a:r>
            <a:r>
              <a:rPr lang="en-US" dirty="0" smtClean="0"/>
              <a:t>Flyweight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Заместитель (</a:t>
            </a:r>
            <a:r>
              <a:rPr lang="en-US" dirty="0" smtClean="0"/>
              <a:t>Proxy</a:t>
            </a:r>
            <a:r>
              <a:rPr lang="ru-RU" b="1" dirty="0" smtClean="0"/>
              <a:t>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33798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Адаптер (</a:t>
            </a:r>
            <a:r>
              <a:rPr lang="en-US" dirty="0" smtClean="0"/>
              <a:t>Adapter</a:t>
            </a:r>
            <a:r>
              <a:rPr lang="ru-RU" dirty="0" smtClean="0"/>
              <a:t>, </a:t>
            </a:r>
            <a:r>
              <a:rPr lang="en-US" dirty="0" smtClean="0"/>
              <a:t>Wrapper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17410" name="Picture 2" descr="Паттерн&amp;nbsp;Адапте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160" y="1832134"/>
            <a:ext cx="7345680" cy="459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927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18434" name="Picture 2" descr="Структура программы после применения адаптер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37" y="1806099"/>
            <a:ext cx="7096125" cy="468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33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19458" name="Picture 2" descr="Структура классов паттерна Адаптер (адаптер объектов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595" y="1690688"/>
            <a:ext cx="8512810" cy="469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065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Мост (</a:t>
            </a:r>
            <a:r>
              <a:rPr lang="en-US" dirty="0" smtClean="0"/>
              <a:t>Bridge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0482" name="Picture 2" descr="Паттерн&amp;nbsp;Мос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96294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251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 и решение</a:t>
            </a:r>
            <a:endParaRPr lang="en-US" dirty="0"/>
          </a:p>
        </p:txBody>
      </p:sp>
      <p:pic>
        <p:nvPicPr>
          <p:cNvPr id="21506" name="Picture 2" descr="Проблема паттерна Мос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6695440" cy="4742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Решение паттерна Мос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575" y="2722880"/>
            <a:ext cx="49657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994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2530" name="Picture 2" descr="Структура классов паттерна Мос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40" y="1835944"/>
            <a:ext cx="7157720" cy="485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78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Компоновщик (</a:t>
            </a:r>
            <a:r>
              <a:rPr lang="en-US" dirty="0" smtClean="0"/>
              <a:t>Composite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3554" name="Picture 2" descr="Паттерн&amp;nbsp;Компоновщ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6627114" cy="414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Структура сложного заказ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0" y="1690688"/>
            <a:ext cx="4370705" cy="437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150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4578" name="Picture 2" descr="Структура классов паттерна Компоновщ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738" y="1867694"/>
            <a:ext cx="3429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442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Декоратор (</a:t>
            </a:r>
            <a:r>
              <a:rPr lang="en-US" dirty="0" smtClean="0"/>
              <a:t>Decorator</a:t>
            </a:r>
            <a:r>
              <a:rPr lang="ru-RU" dirty="0" smtClean="0"/>
              <a:t>, </a:t>
            </a:r>
            <a:r>
              <a:rPr lang="en-US" dirty="0"/>
              <a:t>Wrapper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5602" name="Picture 2" descr="Паттерн&amp;nbsp;Деко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24134"/>
            <a:ext cx="6627114" cy="414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Библиотека после добавления других типов оповещений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601" y="4104640"/>
            <a:ext cx="5232174" cy="202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517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26626" name="Picture 2" descr="Библиотека после комбинирования оповещени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980" y="1517968"/>
            <a:ext cx="8784039" cy="474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8480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7650" name="Picture 2" descr="Структура классов паттерна Деко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090" y="647064"/>
            <a:ext cx="5401750" cy="585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576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Фасад (</a:t>
            </a:r>
            <a:r>
              <a:rPr lang="en-US" dirty="0"/>
              <a:t>Facade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28674" name="Picture 2" descr="Паттерн&amp;nbsp;Фаса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20" y="1496854"/>
            <a:ext cx="7965440" cy="49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557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29698" name="Picture 2" descr="Структура классов паттерна Фаса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945821"/>
            <a:ext cx="7239000" cy="491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51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Легковес (</a:t>
            </a:r>
            <a:r>
              <a:rPr lang="en-US" dirty="0"/>
              <a:t>Flyweight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0722" name="Picture 2" descr="Паттерн&amp;nbsp;Легковес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480" y="1690688"/>
            <a:ext cx="7305040" cy="456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61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31746" name="Picture 2" descr="Проблема паттерна Легковес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74" y="1690688"/>
            <a:ext cx="6353517" cy="258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Решение паттерна Легковес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35" y="3836035"/>
            <a:ext cx="6096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2262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en-US" dirty="0"/>
          </a:p>
        </p:txBody>
      </p:sp>
      <p:pic>
        <p:nvPicPr>
          <p:cNvPr id="32770" name="Picture 2" descr="Паттерн Легковес (Приспособленец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080" y="1609407"/>
            <a:ext cx="8117840" cy="494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985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Заместитель (</a:t>
            </a:r>
            <a:r>
              <a:rPr lang="en-US" dirty="0"/>
              <a:t>Proxy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3794" name="Picture 2" descr="Паттерн&amp;nbsp;Замес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690688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 descr="Решение с помощью Заместител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0" y="5221922"/>
            <a:ext cx="485775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237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34818" name="Picture 2" descr="Структура классов паттерна Замес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154" y="674528"/>
            <a:ext cx="5551805" cy="555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429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Поведенческие паттерны </a:t>
            </a:r>
            <a:r>
              <a:rPr lang="ru-RU" b="1" dirty="0" smtClean="0"/>
              <a:t>проектирования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Цепочка </a:t>
            </a:r>
            <a:r>
              <a:rPr lang="ru-RU" b="1" dirty="0" smtClean="0"/>
              <a:t>обязанностей (</a:t>
            </a:r>
            <a:r>
              <a:rPr lang="en-US" dirty="0"/>
              <a:t>Chain of Responsibility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Команда (</a:t>
            </a:r>
            <a:r>
              <a:rPr lang="en-US" dirty="0"/>
              <a:t>Action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Итератор (</a:t>
            </a:r>
            <a:r>
              <a:rPr lang="en-US" dirty="0" smtClean="0"/>
              <a:t>Iterator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Посредник (</a:t>
            </a:r>
            <a:r>
              <a:rPr lang="en-US" dirty="0" smtClean="0"/>
              <a:t>Controller, Mediator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ru-RU" b="1" dirty="0" smtClean="0"/>
              <a:t>Снимок (</a:t>
            </a:r>
            <a:r>
              <a:rPr lang="en-US" dirty="0" smtClean="0"/>
              <a:t>Memento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Наблюдатель (</a:t>
            </a:r>
            <a:r>
              <a:rPr lang="en-US" dirty="0"/>
              <a:t>Observer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Состояние (</a:t>
            </a:r>
            <a:r>
              <a:rPr lang="en-US" dirty="0"/>
              <a:t>State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Стратегия (</a:t>
            </a:r>
            <a:r>
              <a:rPr lang="en-US" dirty="0"/>
              <a:t>Strategy</a:t>
            </a:r>
            <a:r>
              <a:rPr lang="ru-RU" b="1" dirty="0" smtClean="0"/>
              <a:t>)</a:t>
            </a:r>
          </a:p>
          <a:p>
            <a:r>
              <a:rPr lang="ru-RU" b="1" dirty="0"/>
              <a:t>Шаблонный </a:t>
            </a:r>
            <a:r>
              <a:rPr lang="ru-RU" b="1" dirty="0" smtClean="0"/>
              <a:t>метод (</a:t>
            </a:r>
            <a:r>
              <a:rPr lang="en-US" dirty="0"/>
              <a:t>Template Method</a:t>
            </a:r>
            <a:r>
              <a:rPr lang="ru-RU" b="1" dirty="0" smtClean="0"/>
              <a:t>)</a:t>
            </a:r>
          </a:p>
          <a:p>
            <a:r>
              <a:rPr lang="ru-RU" b="1" dirty="0" smtClean="0"/>
              <a:t>Посетитель (</a:t>
            </a:r>
            <a:r>
              <a:rPr lang="en-US" dirty="0"/>
              <a:t>Visitor</a:t>
            </a:r>
            <a:r>
              <a:rPr lang="ru-RU" b="1" dirty="0" smtClean="0"/>
              <a:t>)</a:t>
            </a:r>
            <a:endParaRPr lang="ru-RU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59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Цепочка обязанностей (</a:t>
            </a:r>
            <a:r>
              <a:rPr lang="en-US" dirty="0" smtClean="0"/>
              <a:t>Chain of Responsibility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5842" name="Picture 2" descr="Паттерн Цепочка&amp;nbsp;обязанносте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40" y="1690688"/>
            <a:ext cx="782320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065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36866" name="Picture 2" descr="Пример общения с поддержко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690" y="2257584"/>
            <a:ext cx="8008620" cy="400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128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37890" name="Picture 2" descr="Структура классов паттерна Цепочка обязанностей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2048669"/>
            <a:ext cx="361950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7781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Команда (</a:t>
            </a:r>
            <a:r>
              <a:rPr lang="en-US" dirty="0" smtClean="0"/>
              <a:t>Action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8914" name="Picture 2" descr="Паттерн&amp;nbsp;Команд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96294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141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Структура классов паттерна Команд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726" y="2054863"/>
            <a:ext cx="6870428" cy="403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0643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Итератор (</a:t>
            </a:r>
            <a:r>
              <a:rPr lang="en-US" dirty="0"/>
              <a:t>Iterator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9938" name="Picture 2" descr="Паттерн&amp;nbsp;Ите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761808"/>
            <a:ext cx="7599680" cy="47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3574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41986" name="Picture 2" descr="Итераторы содержат код обхода коллекции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366" y="121920"/>
            <a:ext cx="5631154" cy="661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6750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</a:t>
            </a:r>
            <a:endParaRPr lang="en-US" dirty="0"/>
          </a:p>
        </p:txBody>
      </p:sp>
      <p:pic>
        <p:nvPicPr>
          <p:cNvPr id="40962" name="Picture 2" descr="Структура классов паттерна Итера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953419"/>
            <a:ext cx="45720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523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Посредник (</a:t>
            </a:r>
            <a:r>
              <a:rPr lang="en-US" dirty="0"/>
              <a:t>Controller, Mediator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43010" name="Picture 2" descr="Паттерн&amp;nbsp;Посредн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96294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0760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en-US" dirty="0"/>
          </a:p>
        </p:txBody>
      </p:sp>
      <p:pic>
        <p:nvPicPr>
          <p:cNvPr id="44034" name="Picture 2" descr="Беспорядочные связи между элементами пользовательского интерфейса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30" y="1496219"/>
            <a:ext cx="6473827" cy="291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69290" y="4409441"/>
            <a:ext cx="609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effectLst/>
              </a:rPr>
              <a:t>Беспорядочные связи между элементами пользовательского интерфейса.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en-US" dirty="0"/>
          </a:p>
        </p:txBody>
      </p:sp>
      <p:pic>
        <p:nvPicPr>
          <p:cNvPr id="44036" name="Picture 4" descr="Элементы общаются через посредник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23894"/>
            <a:ext cx="57150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0361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45058" name="Picture 2" descr="Структура классов паттерна Посредн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740" y="2085498"/>
            <a:ext cx="5476520" cy="45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170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Снимок (</a:t>
            </a:r>
            <a:r>
              <a:rPr lang="en-US" dirty="0"/>
              <a:t>Memento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46082" name="Picture 2" descr="Паттерн&amp;nbsp;Снимо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19" y="1690688"/>
            <a:ext cx="7097267" cy="443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9651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47106" name="Picture 2" descr="Структура классов паттерна Снимок (Хранитель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288" y="1391352"/>
            <a:ext cx="7384712" cy="394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Снимок полностью открыт для создателя, но лишь частично открыт для опекун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6915"/>
            <a:ext cx="5810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5128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Наблюдатель (</a:t>
            </a:r>
            <a:r>
              <a:rPr lang="en-US" dirty="0"/>
              <a:t>Observer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3074" name="Picture 2" descr="Паттерн&amp;nbsp;Наблюда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952" y="1591765"/>
            <a:ext cx="7527252" cy="47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003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4098" name="Picture 2" descr="Структура классов паттерна Наблюда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514" y="2056569"/>
            <a:ext cx="8098972" cy="411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629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Состояние (</a:t>
            </a:r>
            <a:r>
              <a:rPr lang="en-US" dirty="0"/>
              <a:t>State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5122" name="Picture 2" descr="Паттерн&amp;nbsp;Состояние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83" y="1575661"/>
            <a:ext cx="8096432" cy="506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Конечный автома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981" y="3058045"/>
            <a:ext cx="30480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0637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6146" name="Picture 2" descr="Структура классов паттерна Состояние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023" y="813672"/>
            <a:ext cx="7384868" cy="560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0972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Стратегия (</a:t>
            </a:r>
            <a:r>
              <a:rPr lang="en-US" dirty="0"/>
              <a:t>Strategy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7170" name="Picture 2" descr="Паттерн&amp;nbsp;Стратеги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679" y="1575662"/>
            <a:ext cx="8263636" cy="516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3566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проблемы</a:t>
            </a:r>
            <a:endParaRPr lang="en-US" dirty="0"/>
          </a:p>
        </p:txBody>
      </p:sp>
      <p:pic>
        <p:nvPicPr>
          <p:cNvPr id="8194" name="Picture 2" descr="Стратегии построения пути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2120"/>
            <a:ext cx="10584912" cy="5199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4128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9218" name="Picture 2" descr="Структура классов паттерна Стратеги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829" y="1271552"/>
            <a:ext cx="6409508" cy="538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0748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Шаблонный </a:t>
            </a:r>
            <a:r>
              <a:rPr lang="ru-RU" b="1" dirty="0" smtClean="0"/>
              <a:t>метод</a:t>
            </a:r>
            <a:r>
              <a:rPr lang="ru-RU" b="1" dirty="0"/>
              <a:t> </a:t>
            </a:r>
            <a:r>
              <a:rPr lang="ru-RU" b="1" dirty="0" smtClean="0"/>
              <a:t>(</a:t>
            </a:r>
            <a:r>
              <a:rPr lang="en-US" dirty="0"/>
              <a:t>Template Method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10242" name="Picture 2" descr="Паттерн Шаблонный&amp;nbsp;мето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726" y="1690688"/>
            <a:ext cx="7872548" cy="492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7432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11266" name="Picture 2" descr="Структура классов паттерна Шаблонный Метод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994" y="758631"/>
            <a:ext cx="5085806" cy="568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Классы дата-майнинга содержат много дублирован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94" y="1493202"/>
            <a:ext cx="5905500" cy="438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293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Посетитель (</a:t>
            </a:r>
            <a:r>
              <a:rPr lang="en-US" dirty="0"/>
              <a:t>Visitor</a:t>
            </a:r>
            <a:r>
              <a:rPr lang="ru-RU" b="1" dirty="0" smtClean="0"/>
              <a:t>)</a:t>
            </a:r>
            <a:endParaRPr lang="en-US" dirty="0"/>
          </a:p>
        </p:txBody>
      </p:sp>
      <p:pic>
        <p:nvPicPr>
          <p:cNvPr id="12290" name="Picture 2" descr="Паттерн&amp;nbsp;Посе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456" y="1632856"/>
            <a:ext cx="8360230" cy="522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080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</a:t>
            </a:r>
            <a:endParaRPr lang="en-US" dirty="0"/>
          </a:p>
        </p:txBody>
      </p:sp>
      <p:pic>
        <p:nvPicPr>
          <p:cNvPr id="13314" name="Picture 2" descr="Структура классов паттерна Посетител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814" y="365125"/>
            <a:ext cx="6335512" cy="657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0915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-233363"/>
            <a:ext cx="9763125" cy="73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767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Приемы объектно-ориентированного проектирования </a:t>
            </a:r>
            <a:r>
              <a:rPr lang="ru-RU" dirty="0"/>
              <a:t>(см. слайд 3)</a:t>
            </a:r>
            <a:endParaRPr lang="ru-RU" dirty="0" smtClean="0"/>
          </a:p>
          <a:p>
            <a:r>
              <a:rPr lang="ru-RU" dirty="0" smtClean="0"/>
              <a:t>Паттерны проектирования (см. слайд 3)</a:t>
            </a:r>
          </a:p>
          <a:p>
            <a:r>
              <a:rPr lang="en-US" dirty="0"/>
              <a:t>https://refactoring.guru/ru/design-patterns</a:t>
            </a:r>
          </a:p>
        </p:txBody>
      </p:sp>
    </p:spTree>
    <p:extLst>
      <p:ext uri="{BB962C8B-B14F-4D97-AF65-F5344CB8AC3E}">
        <p14:creationId xmlns:p14="http://schemas.microsoft.com/office/powerpoint/2010/main" val="7771241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304</Words>
  <Application>Microsoft Office PowerPoint</Application>
  <PresentationFormat>Широкоэкранный</PresentationFormat>
  <Paragraphs>113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Порождающие паттерны проектирования</vt:lpstr>
      <vt:lpstr>Фабричный метод (Factory Method) </vt:lpstr>
      <vt:lpstr>Фабричный метод (Factory Method) </vt:lpstr>
      <vt:lpstr>Фабричный метод (Factory Method) </vt:lpstr>
      <vt:lpstr> Преимущества и недостатки</vt:lpstr>
      <vt:lpstr>Абстрактная фабрика (Abstract Factory)</vt:lpstr>
      <vt:lpstr>Абстрактная фабрика (Abstract Factory)</vt:lpstr>
      <vt:lpstr>Абстрактная фабрика (Abstract Factory)</vt:lpstr>
      <vt:lpstr>Строитель (Builder)</vt:lpstr>
      <vt:lpstr>Проблема</vt:lpstr>
      <vt:lpstr>Решение</vt:lpstr>
      <vt:lpstr>Структура</vt:lpstr>
      <vt:lpstr>Прототип (Prototype)</vt:lpstr>
      <vt:lpstr>Проблема</vt:lpstr>
      <vt:lpstr>Структура</vt:lpstr>
      <vt:lpstr>Одиночка (Singleton)</vt:lpstr>
      <vt:lpstr>Проблема</vt:lpstr>
      <vt:lpstr>Решение</vt:lpstr>
      <vt:lpstr>Структурные паттерны проектирования</vt:lpstr>
      <vt:lpstr>Адаптер (Adapter, Wrapper)</vt:lpstr>
      <vt:lpstr>Решение</vt:lpstr>
      <vt:lpstr>Структура</vt:lpstr>
      <vt:lpstr>Мост (Bridge)</vt:lpstr>
      <vt:lpstr>Проблема и решение</vt:lpstr>
      <vt:lpstr>Структура</vt:lpstr>
      <vt:lpstr>Компоновщик (Composite)</vt:lpstr>
      <vt:lpstr>Структура</vt:lpstr>
      <vt:lpstr>Декоратор (Decorator, Wrapper)</vt:lpstr>
      <vt:lpstr>Проблема</vt:lpstr>
      <vt:lpstr>Структура</vt:lpstr>
      <vt:lpstr>Фасад (Facade)</vt:lpstr>
      <vt:lpstr>Структура</vt:lpstr>
      <vt:lpstr>Легковес (Flyweight)</vt:lpstr>
      <vt:lpstr>Проблема</vt:lpstr>
      <vt:lpstr>Решение</vt:lpstr>
      <vt:lpstr>Заместитель (Proxy)</vt:lpstr>
      <vt:lpstr>Структура</vt:lpstr>
      <vt:lpstr>Поведенческие паттерны проектирования</vt:lpstr>
      <vt:lpstr>Цепочка обязанностей (Chain of Responsibility)</vt:lpstr>
      <vt:lpstr>Проблема</vt:lpstr>
      <vt:lpstr>Структура</vt:lpstr>
      <vt:lpstr>Команда (Action)</vt:lpstr>
      <vt:lpstr>Презентация PowerPoint</vt:lpstr>
      <vt:lpstr>Итератор (Iterator)</vt:lpstr>
      <vt:lpstr>Проблема</vt:lpstr>
      <vt:lpstr>Структура </vt:lpstr>
      <vt:lpstr>Посредник (Controller, Mediator)</vt:lpstr>
      <vt:lpstr>Проблема</vt:lpstr>
      <vt:lpstr>Структура</vt:lpstr>
      <vt:lpstr>Снимок (Memento)</vt:lpstr>
      <vt:lpstr>Структура</vt:lpstr>
      <vt:lpstr>Наблюдатель (Observer)</vt:lpstr>
      <vt:lpstr>Структура</vt:lpstr>
      <vt:lpstr>Состояние (State)</vt:lpstr>
      <vt:lpstr>Структура</vt:lpstr>
      <vt:lpstr>Стратегия (Strategy)</vt:lpstr>
      <vt:lpstr>Постановка проблемы</vt:lpstr>
      <vt:lpstr>Структура</vt:lpstr>
      <vt:lpstr>Шаблонный метод (Template Method)</vt:lpstr>
      <vt:lpstr>Структура</vt:lpstr>
      <vt:lpstr>Посетитель (Visitor)</vt:lpstr>
      <vt:lpstr>Структура</vt:lpstr>
      <vt:lpstr>Презентация PowerPoint</vt:lpstr>
      <vt:lpstr>Литература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Dmitry</dc:creator>
  <cp:lastModifiedBy>Dmitry</cp:lastModifiedBy>
  <cp:revision>16</cp:revision>
  <dcterms:created xsi:type="dcterms:W3CDTF">2020-10-30T11:13:41Z</dcterms:created>
  <dcterms:modified xsi:type="dcterms:W3CDTF">2020-11-21T10:05:53Z</dcterms:modified>
</cp:coreProperties>
</file>