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848EC-0643-4482-A648-3F4A8579B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6AA417-0406-4ED0-AE72-2440660FD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4345B8-DA31-4161-B12C-F323A5B7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C3708-862C-41CB-A52B-4F9976B8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5145A-7C55-4F87-B273-510D869F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2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D4C6F-4498-4019-B724-FF677162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F536C-21A6-4D99-9483-3BB7CCFF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F1F21-31FB-4755-BE2B-A300C9A3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DA3BE6-2EF0-49D5-BECB-1DF2557B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54E-49FB-43CB-9482-1AADF0F9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91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A4389-93F2-4DDD-84C8-BB84484D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28169-6F5D-4FC7-B1E3-880ECCF4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6B6BBE-8593-4571-A360-BA12CC65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81567-555D-4996-B8E0-E60B43A4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1DAD3-B4FA-4BA7-9F60-4C1434B6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85865-B220-456E-B0A2-AA4D3F0F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0DEA0-8D29-4BA4-B1D9-D329ADB68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713CD1-EE46-48F6-99ED-E4184857F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D8A54F-26E3-4C9E-9922-8AA9A32D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5E0167-2539-458F-B467-137ADDA6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B5DAEE-9724-41C9-BE9A-2A45991B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45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881BC-FEB7-4C2A-B248-4DEFEA7A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817FD-3BFA-4060-912E-500A70F6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48BDF4-BA7B-468E-8371-CF154FBAA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DF0D25-8E1D-45FC-A35E-7C136A6D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E3998A-107D-4CBF-BA13-9B5CD7731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52774-A724-4DED-BB70-228520F3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EE9B23-C4BE-47F2-8749-7C22DEA9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B69BD4-0E06-4F43-8863-16D19FD8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38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EB364-1E90-4733-8D4A-926F0C46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6435C4-484E-428B-A534-3B677EC7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A0541D-35DC-4CE9-AEF3-C611B13A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207FD9-DCDA-4DBF-9768-C755BE0A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77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8FA2A5-3599-4F6B-A2EC-5E1A0A0F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371216-9657-4916-A650-DD27AD2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A631D6-4ECE-4478-8945-29225E38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48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1BA91-124D-4E0F-B31D-67E9C7F4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76669-E94A-45A9-B6BC-3AD5B143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E9B21-6B3A-40FF-84E5-EAADAF35E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A4FF92-8720-41C9-952F-EE40AA6B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785C91-F840-44AE-8DF6-9F437629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5ADFA5-6C6B-4F13-99BF-A822949D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1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A8DE0-3CF1-479D-8A37-E332B5F6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7F8455-EA2B-4DC1-B3C3-819CADE03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298E0-1456-46EF-8E60-34E96ED8D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9BD97-41FF-4F87-8BB8-5B21BA4F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0277C-C7B4-4C32-B781-4F24EF38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18217-E105-432B-A650-8C697455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78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327FA-857B-49E4-A80B-99E097D7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142DC3-0EE9-48FD-AC44-04DE82E72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9BBF23-54EB-4CAF-859D-1EEE0E6B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95A156-EFDE-4562-A2DA-9CC0CA39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693A40-125D-4C39-B15E-E5322945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93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A7D619-9085-4599-8021-9501AD9FE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A09E96-B141-4C00-B679-8E710B95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4F4453-5B52-4EBE-9BA4-ADDDC939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0258D5-AB1B-4863-82AD-2804662E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9BA398-77AB-4C42-8644-2DB40A7F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3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C82DB-C7EE-4BED-A91A-3D8239EE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F63F28-F758-4BBC-A617-21A187779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5A260-71A6-43A9-A3AB-79550D575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11B8D-2DD5-480B-B9A3-F7ACA637ACF0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35BE9-E5D3-43D4-AE1B-7CF26762D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8C03B-0745-47DB-9E57-5A12ED184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3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80054-8A79-49C6-801B-BFB9DC55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Теоретические блоки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29C01-A6C1-4B8C-839E-63AADBF5AB83}"/>
              </a:ext>
            </a:extLst>
          </p:cNvPr>
          <p:cNvSpPr txBox="1"/>
          <p:nvPr/>
        </p:nvSpPr>
        <p:spPr>
          <a:xfrm>
            <a:off x="838200" y="2126964"/>
            <a:ext cx="2624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 err="1"/>
              <a:t>OpenCSV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DF58D-DA10-4D5C-AD2C-8CEC8F382B14}"/>
              </a:ext>
            </a:extLst>
          </p:cNvPr>
          <p:cNvSpPr txBox="1"/>
          <p:nvPr/>
        </p:nvSpPr>
        <p:spPr>
          <a:xfrm>
            <a:off x="838200" y="2917183"/>
            <a:ext cx="2624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 err="1"/>
              <a:t>iText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4606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B3DB18-12FB-4889-99EF-73C3557B1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695" y="382936"/>
            <a:ext cx="3954610" cy="3908357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EE6070B-C4AE-4BED-80C4-29DDC3E38B18}"/>
              </a:ext>
            </a:extLst>
          </p:cNvPr>
          <p:cNvSpPr txBox="1">
            <a:spLocks/>
          </p:cNvSpPr>
          <p:nvPr/>
        </p:nvSpPr>
        <p:spPr>
          <a:xfrm>
            <a:off x="1045633" y="4833160"/>
            <a:ext cx="10100734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Изучена теория и выполнено практическое задание по курсу </a:t>
            </a:r>
            <a:r>
              <a:rPr lang="en-US" sz="4000" dirty="0"/>
              <a:t>Spring Core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60969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789054-6B11-4705-8009-75966E9E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525" y="181873"/>
            <a:ext cx="2122386" cy="1445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C33118-D50A-4A3E-9D6E-AA1768DE310E}"/>
              </a:ext>
            </a:extLst>
          </p:cNvPr>
          <p:cNvSpPr txBox="1"/>
          <p:nvPr/>
        </p:nvSpPr>
        <p:spPr>
          <a:xfrm>
            <a:off x="1972873" y="176575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 err="1">
                <a:effectLst/>
                <a:latin typeface="Lato" panose="020F0502020204030203" pitchFamily="34" charset="0"/>
              </a:rPr>
              <a:t>Array.diff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BD507-CDE1-4D68-B32B-8E4334C3209F}"/>
              </a:ext>
            </a:extLst>
          </p:cNvPr>
          <p:cNvSpPr txBox="1"/>
          <p:nvPr/>
        </p:nvSpPr>
        <p:spPr>
          <a:xfrm>
            <a:off x="1856655" y="209829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Split Strings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686ED-53A4-462D-B64D-E42CE5EA703B}"/>
              </a:ext>
            </a:extLst>
          </p:cNvPr>
          <p:cNvSpPr txBox="1"/>
          <p:nvPr/>
        </p:nvSpPr>
        <p:spPr>
          <a:xfrm>
            <a:off x="8994736" y="184477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Rot13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6F76B4-DDD4-4909-B456-3A9B39EBA785}"/>
              </a:ext>
            </a:extLst>
          </p:cNvPr>
          <p:cNvSpPr txBox="1"/>
          <p:nvPr/>
        </p:nvSpPr>
        <p:spPr>
          <a:xfrm>
            <a:off x="1539260" y="2370979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Your order, please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DB6CE1B-C213-485C-9435-DFB23B5E4C40}"/>
              </a:ext>
            </a:extLst>
          </p:cNvPr>
          <p:cNvCxnSpPr/>
          <p:nvPr/>
        </p:nvCxnSpPr>
        <p:spPr>
          <a:xfrm>
            <a:off x="0" y="310447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83E4E12-EFD6-4ADA-BB61-BA1D8F8149BF}"/>
              </a:ext>
            </a:extLst>
          </p:cNvPr>
          <p:cNvCxnSpPr>
            <a:cxnSpLocks/>
          </p:cNvCxnSpPr>
          <p:nvPr/>
        </p:nvCxnSpPr>
        <p:spPr>
          <a:xfrm>
            <a:off x="5683955" y="-1"/>
            <a:ext cx="0" cy="3104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33EFDA-40A8-4CA7-B8AD-5075C4C2D3FA}"/>
              </a:ext>
            </a:extLst>
          </p:cNvPr>
          <p:cNvSpPr txBox="1"/>
          <p:nvPr/>
        </p:nvSpPr>
        <p:spPr>
          <a:xfrm>
            <a:off x="1430255" y="2656115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Counting Duplicates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59D693-4B66-46CA-975C-D452667E0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723" y="3188666"/>
            <a:ext cx="7979866" cy="358691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8B2BEA4-1242-4B8D-8E9E-5B5E31BC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772" y="181872"/>
            <a:ext cx="2081783" cy="14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C3EA0-79CA-4A01-8FFF-CFCF0EFB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077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+mn-lt"/>
              </a:rPr>
              <a:t>Сделано</a:t>
            </a:r>
          </a:p>
        </p:txBody>
      </p:sp>
      <p:sp>
        <p:nvSpPr>
          <p:cNvPr id="17" name="Подзаголовок 5">
            <a:extLst>
              <a:ext uri="{FF2B5EF4-FFF2-40B4-BE49-F238E27FC236}">
                <a16:creationId xmlns:a16="http://schemas.microsoft.com/office/drawing/2014/main" id="{142D1C95-C211-45E6-B2AA-3568D159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57" y="1727200"/>
            <a:ext cx="5682999" cy="36350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Убрано @Data из всех @Entity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Декомпозированы большие методы (&gt;20 строк)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Ограничение регистрации администраторов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ADMIN_EMAILS </a:t>
            </a:r>
            <a:r>
              <a:rPr lang="ru-RU" sz="2000" dirty="0"/>
              <a:t>вынесены в </a:t>
            </a:r>
            <a:r>
              <a:rPr lang="en-US" sz="2000" dirty="0"/>
              <a:t>.env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Созданы пакеты и классы </a:t>
            </a:r>
            <a:r>
              <a:rPr lang="ru-RU" sz="2000" dirty="0" err="1"/>
              <a:t>мапперов</a:t>
            </a:r>
            <a:r>
              <a:rPr lang="ru-RU" sz="2000" dirty="0"/>
              <a:t>, вынесены из сервисов</a:t>
            </a:r>
          </a:p>
          <a:p>
            <a:r>
              <a:rPr lang="ru-RU" sz="2000" dirty="0">
                <a:effectLst/>
              </a:rPr>
              <a:t>Добавлена поддержка множественных удобств при поиске отеля</a:t>
            </a:r>
          </a:p>
          <a:p>
            <a:r>
              <a:rPr lang="ru-RU" sz="2000" dirty="0">
                <a:effectLst/>
              </a:rPr>
              <a:t>Логика </a:t>
            </a:r>
            <a:r>
              <a:rPr lang="en-US" sz="2000" dirty="0">
                <a:effectLst/>
              </a:rPr>
              <a:t>CSV-</a:t>
            </a:r>
            <a:r>
              <a:rPr lang="ru-RU" sz="2000" dirty="0">
                <a:effectLst/>
              </a:rPr>
              <a:t>импорта и </a:t>
            </a:r>
            <a:r>
              <a:rPr lang="en-US" sz="2000" dirty="0">
                <a:effectLst/>
              </a:rPr>
              <a:t>PDF </a:t>
            </a:r>
            <a:r>
              <a:rPr lang="ru-RU" sz="2000" dirty="0"/>
              <a:t>экспорта </a:t>
            </a:r>
            <a:r>
              <a:rPr lang="ru-RU" sz="2000" dirty="0">
                <a:effectLst/>
              </a:rPr>
              <a:t>вынесены в отдельный классы</a:t>
            </a:r>
          </a:p>
          <a:p>
            <a:endParaRPr lang="en-US" sz="20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37DEE9-E776-432A-A0EB-7F503A610CD4}"/>
              </a:ext>
            </a:extLst>
          </p:cNvPr>
          <p:cNvSpPr txBox="1"/>
          <p:nvPr/>
        </p:nvSpPr>
        <p:spPr>
          <a:xfrm>
            <a:off x="4639733" y="724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API </a:t>
            </a:r>
            <a:r>
              <a:rPr lang="ru-RU" dirty="0">
                <a:latin typeface="+mn-lt"/>
              </a:rPr>
              <a:t>для бронирования отелей</a:t>
            </a:r>
            <a:endParaRPr lang="ru-RU" dirty="0"/>
          </a:p>
        </p:txBody>
      </p:sp>
      <p:sp>
        <p:nvSpPr>
          <p:cNvPr id="9" name="Подзаголовок 5">
            <a:extLst>
              <a:ext uri="{FF2B5EF4-FFF2-40B4-BE49-F238E27FC236}">
                <a16:creationId xmlns:a16="http://schemas.microsoft.com/office/drawing/2014/main" id="{9A0A4767-215C-4425-A788-E578F383BB05}"/>
              </a:ext>
            </a:extLst>
          </p:cNvPr>
          <p:cNvSpPr txBox="1">
            <a:spLocks/>
          </p:cNvSpPr>
          <p:nvPr/>
        </p:nvSpPr>
        <p:spPr>
          <a:xfrm>
            <a:off x="6355644" y="1727200"/>
            <a:ext cx="5682999" cy="2325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ru-RU" sz="2000" dirty="0"/>
              <a:t>Настроен </a:t>
            </a:r>
            <a:r>
              <a:rPr lang="en-US" sz="2000" dirty="0"/>
              <a:t>Liquibase</a:t>
            </a:r>
            <a:r>
              <a:rPr lang="ru-RU" sz="2000" dirty="0"/>
              <a:t> для </a:t>
            </a:r>
            <a:r>
              <a:rPr lang="en-US" sz="2000" dirty="0"/>
              <a:t>booking-service</a:t>
            </a:r>
          </a:p>
          <a:p>
            <a:pPr marL="285750" indent="-285750"/>
            <a:r>
              <a:rPr lang="en-US" sz="2000" dirty="0"/>
              <a:t>CRUD</a:t>
            </a:r>
            <a:r>
              <a:rPr lang="ru-RU" sz="2000" dirty="0"/>
              <a:t> операции для </a:t>
            </a:r>
            <a:r>
              <a:rPr lang="en-US" sz="2000" dirty="0"/>
              <a:t>booking-service </a:t>
            </a:r>
            <a:endParaRPr lang="ru-RU" sz="2000" dirty="0"/>
          </a:p>
          <a:p>
            <a:pPr marL="285750" indent="-285750"/>
            <a:r>
              <a:rPr lang="ru-RU" sz="2000" dirty="0"/>
              <a:t>Ограничение регистрации администраторов</a:t>
            </a:r>
          </a:p>
          <a:p>
            <a:pPr marL="285750" indent="-285750"/>
            <a:r>
              <a:rPr lang="ru-RU" sz="2000" dirty="0"/>
              <a:t>Сезонные коэффициенты: умножение цены для лета и зимы на 1.2 и 0.8 соответственно</a:t>
            </a:r>
            <a:endParaRPr lang="en-US" sz="2000" dirty="0"/>
          </a:p>
          <a:p>
            <a:pPr marL="285750" indent="-285750"/>
            <a:r>
              <a:rPr lang="en-US" sz="2000" dirty="0"/>
              <a:t>PDF-</a:t>
            </a:r>
            <a:r>
              <a:rPr lang="ru-RU" sz="2000" dirty="0"/>
              <a:t>подтверждение бронирования</a:t>
            </a:r>
            <a:endParaRPr lang="en-US" sz="2000" dirty="0"/>
          </a:p>
          <a:p>
            <a:pPr marL="285750" indent="-285750"/>
            <a:endParaRPr lang="ru-RU" sz="2000" dirty="0"/>
          </a:p>
          <a:p>
            <a:pPr marL="285750" indent="-28575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3100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B55B8F-0A42-4D40-9745-2A24D7D5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79" y="404284"/>
            <a:ext cx="4371975" cy="800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4E5C9A-29D6-4443-BDC1-F50C0C16A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86" y="1945217"/>
            <a:ext cx="2790825" cy="1143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6E5DB5-DDE4-4DC9-8A71-18D71D385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37" y="69849"/>
            <a:ext cx="2752725" cy="179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755B92-CEC1-4CDD-B5DA-D0E3C03B0B54}"/>
              </a:ext>
            </a:extLst>
          </p:cNvPr>
          <p:cNvSpPr txBox="1"/>
          <p:nvPr/>
        </p:nvSpPr>
        <p:spPr>
          <a:xfrm>
            <a:off x="668867" y="1204384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ADMIN_EMAILS </a:t>
            </a:r>
            <a:r>
              <a:rPr lang="ru-RU" sz="1800" dirty="0"/>
              <a:t>вынесены в </a:t>
            </a:r>
            <a:r>
              <a:rPr lang="en-US" sz="1800" dirty="0"/>
              <a:t>.env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F5708-1285-49AB-8848-5EB9CEB0E5C8}"/>
              </a:ext>
            </a:extLst>
          </p:cNvPr>
          <p:cNvSpPr txBox="1"/>
          <p:nvPr/>
        </p:nvSpPr>
        <p:spPr>
          <a:xfrm>
            <a:off x="4428064" y="3172885"/>
            <a:ext cx="485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Декомпозированы большие методы (&gt;20 строк)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06AEE-97C4-411F-BCC9-DED25AA5269D}"/>
              </a:ext>
            </a:extLst>
          </p:cNvPr>
          <p:cNvSpPr txBox="1"/>
          <p:nvPr/>
        </p:nvSpPr>
        <p:spPr>
          <a:xfrm>
            <a:off x="234950" y="4711969"/>
            <a:ext cx="2854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пакеты и классы </a:t>
            </a:r>
            <a:r>
              <a:rPr lang="ru-RU" sz="1800" dirty="0" err="1"/>
              <a:t>мапперов</a:t>
            </a:r>
            <a:r>
              <a:rPr lang="ru-RU" sz="1800" dirty="0"/>
              <a:t> вынесены из сервисов</a:t>
            </a:r>
          </a:p>
          <a:p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40F9FF8-1B52-49C3-ABB1-671E513ED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79" y="2246312"/>
            <a:ext cx="2752725" cy="4667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A579147-CA77-45F6-9A60-330BAF4C8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79" y="2872058"/>
            <a:ext cx="2733675" cy="1143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EFA9F48-6F3E-42C5-BD2A-183E9064B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979" y="4130151"/>
            <a:ext cx="2790825" cy="4667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C6083A-4F1C-4E21-AD3F-1A3AB9591D97}"/>
              </a:ext>
            </a:extLst>
          </p:cNvPr>
          <p:cNvSpPr txBox="1"/>
          <p:nvPr/>
        </p:nvSpPr>
        <p:spPr>
          <a:xfrm>
            <a:off x="3006198" y="5961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Вынесена л</a:t>
            </a:r>
            <a:r>
              <a:rPr lang="ru-RU" sz="1800" dirty="0">
                <a:effectLst/>
              </a:rPr>
              <a:t>огика </a:t>
            </a:r>
            <a:r>
              <a:rPr lang="en-US" sz="1800" dirty="0">
                <a:effectLst/>
              </a:rPr>
              <a:t>CSV-</a:t>
            </a:r>
            <a:r>
              <a:rPr lang="ru-RU" sz="1800" dirty="0">
                <a:effectLst/>
              </a:rPr>
              <a:t>импорта и </a:t>
            </a:r>
            <a:r>
              <a:rPr lang="en-US" sz="1800" dirty="0">
                <a:effectLst/>
              </a:rPr>
              <a:t>PDF </a:t>
            </a:r>
            <a:r>
              <a:rPr lang="ru-RU" sz="1800" dirty="0"/>
              <a:t>экспорта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6BE70A2-35F5-4DC4-86A7-2CC85CE618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1289" y="5393306"/>
            <a:ext cx="2800350" cy="47625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04B3953-14D0-4450-A9C7-4F6066AAF1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1289" y="4174079"/>
            <a:ext cx="2743200" cy="11239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29822B-52FC-4640-B1B6-8163BEF09A76}"/>
              </a:ext>
            </a:extLst>
          </p:cNvPr>
          <p:cNvSpPr txBox="1"/>
          <p:nvPr/>
        </p:nvSpPr>
        <p:spPr>
          <a:xfrm>
            <a:off x="8678333" y="6307529"/>
            <a:ext cx="273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Сезонные коэффициенты</a:t>
            </a:r>
            <a:endParaRPr lang="ru-RU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A571979-74D5-4D1B-96F5-0C092BE66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1385" y="3956410"/>
            <a:ext cx="3497094" cy="228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64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41F7E-271F-493D-94D7-3DE9FE19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11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Планы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34B0CE-425D-4E8A-BC93-2BABB37305F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9278033" y="1690686"/>
            <a:ext cx="1642516" cy="9604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Подзаголовок 5">
            <a:extLst>
              <a:ext uri="{FF2B5EF4-FFF2-40B4-BE49-F238E27FC236}">
                <a16:creationId xmlns:a16="http://schemas.microsoft.com/office/drawing/2014/main" id="{F5FB387E-E146-4A39-A526-6EBEA036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825" y="1261244"/>
            <a:ext cx="7963354" cy="452995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Написание </a:t>
            </a:r>
            <a:r>
              <a:rPr lang="ru-RU" dirty="0" err="1"/>
              <a:t>микросервиса</a:t>
            </a:r>
            <a:r>
              <a:rPr lang="ru-RU" dirty="0"/>
              <a:t> </a:t>
            </a:r>
            <a:r>
              <a:rPr lang="en-US" dirty="0"/>
              <a:t>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Тестирование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Подключение платежной системы</a:t>
            </a:r>
            <a:endParaRPr lang="en-US" dirty="0"/>
          </a:p>
          <a:p>
            <a:pPr marL="285750" indent="-285750"/>
            <a:r>
              <a:rPr lang="ru-RU" dirty="0"/>
              <a:t>Рефакторинг кода</a:t>
            </a:r>
          </a:p>
          <a:p>
            <a:pPr marL="285750" indent="-285750"/>
            <a:r>
              <a:rPr lang="ru-RU" dirty="0"/>
              <a:t>Тестирование всех сервисов</a:t>
            </a:r>
          </a:p>
          <a:p>
            <a:pPr marL="285750" indent="-285750"/>
            <a:r>
              <a:rPr lang="ru-RU" dirty="0"/>
              <a:t>Решение задач </a:t>
            </a:r>
            <a:r>
              <a:rPr lang="en-US" dirty="0" err="1"/>
              <a:t>Codewars</a:t>
            </a:r>
            <a:endParaRPr lang="en-US" dirty="0"/>
          </a:p>
          <a:p>
            <a:pPr marL="285750" indent="-285750"/>
            <a:r>
              <a:rPr lang="ru-RU" dirty="0"/>
              <a:t>Прохождение теста по курсу </a:t>
            </a:r>
            <a:r>
              <a:rPr lang="en-US" dirty="0"/>
              <a:t>MES Spring Core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61CAC1-B8C3-47AA-A585-1832062FA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990" y="3621351"/>
            <a:ext cx="2791904" cy="27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6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8B32A-5494-46F1-A401-1F208F86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697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pic>
        <p:nvPicPr>
          <p:cNvPr id="4" name="Picture 2" descr="El Gato Meme&quot; Sticker for Sale by pinkjellydragon | Redbubble">
            <a:extLst>
              <a:ext uri="{FF2B5EF4-FFF2-40B4-BE49-F238E27FC236}">
                <a16:creationId xmlns:a16="http://schemas.microsoft.com/office/drawing/2014/main" id="{BF0B21EF-6C92-4892-8E33-E9376185E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29667" y1="18167" x2="34000" y2="48667"/>
                        <a14:backgroundMark x1="34000" y1="48667" x2="32333" y2="61333"/>
                        <a14:backgroundMark x1="32333" y1="61333" x2="38833" y2="86667"/>
                        <a14:backgroundMark x1="38833" y1="86667" x2="52167" y2="90333"/>
                        <a14:backgroundMark x1="52167" y1="90333" x2="53833" y2="89667"/>
                        <a14:backgroundMark x1="46333" y1="87500" x2="46000" y2="86667"/>
                        <a14:backgroundMark x1="62667" y1="81500" x2="57333" y2="87167"/>
                        <a14:backgroundMark x1="56500" y1="85667" x2="61500" y2="81500"/>
                        <a14:backgroundMark x1="60833" y1="81500" x2="58000" y2="8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84" y="1896697"/>
            <a:ext cx="4709432" cy="470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203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165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Тема Office</vt:lpstr>
      <vt:lpstr>Теоретические блоки</vt:lpstr>
      <vt:lpstr>Презентация PowerPoint</vt:lpstr>
      <vt:lpstr>Презентация PowerPoint</vt:lpstr>
      <vt:lpstr>Сделано</vt:lpstr>
      <vt:lpstr>Презентация PowerPoint</vt:lpstr>
      <vt:lpstr>Планы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Luflexia ⠀</dc:creator>
  <cp:lastModifiedBy>Luflexia ⠀</cp:lastModifiedBy>
  <cp:revision>46</cp:revision>
  <dcterms:created xsi:type="dcterms:W3CDTF">2025-06-16T17:41:17Z</dcterms:created>
  <dcterms:modified xsi:type="dcterms:W3CDTF">2025-06-30T22:18:13Z</dcterms:modified>
</cp:coreProperties>
</file>