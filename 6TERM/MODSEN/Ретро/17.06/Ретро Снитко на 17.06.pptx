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0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6T18:11:39.30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149 0,'-1'12,"-1"-1,0 0,0 0,-1 0,-1 0,-6 14,5-12,0 0,1 0,-5 27,2-4,-1-1,-1 0,-3 0,-29 64,38-94,-16 57,19-59,-1 0,0 0,1 0,-1 0,1 0,0 0,0 0,0 0,1 0,-1 0,1 0,0 0,-1 0,1 0,1 0,-1 0,0-1,3 5,-2-6,0 0,0-1,0 1,0 0,0-1,1 0,-1 1,0-1,0 0,0 0,0 0,1 0,-1-1,0 1,0 0,0-1,0 0,0 1,0-1,0 0,0 0,0 0,3-2,45-29,110-96,-63 48,-80 65,-2-1,1 0,20-30,26-28,-62 73,0 1,1 0,-1-1,0 1,1 0,-1-1,0 1,0 0,1 0,-1-1,1 1,-1 0,0 0,1-1,-1 1,1 0,-1 0,0 0,1 0,-1 0,1 0,-1 0,1 0,-1 0,0 0,1 0,-1 0,1 0,-1 0,0 0,1 0,-1 0,1 1,6 14,-6 30,-1-39,-3 83,4 119,-1-207,0 1,0 0,0-1,1 1,-1 0,0-1,1 1,-1-1,1 1,-1 0,1-1,0 1,0-1,0 0,0 1,0-1,0 0,0 1,0-1,0 0,1 0,-1 0,0 0,1 0,1 1,0-2,0 1,0-1,0 1,-1-1,1 0,0 0,0-1,0 1,0 0,-1-1,1 0,0 0,4-1,6-4,0-1,-1 0,0 0,22-19,16-12,-30 24,33-31,59-57,-8-13,-104 114,0 1,0-1,1 1,-1 0,0-1,1 1,-1 0,0-1,1 1,-1 0,0 0,1-1,-1 1,0 0,1 0,-1 0,1 0,-1-1,1 1,-1 0,0 0,1 0,-1 0,1 0,-1 0,1 0,-1 0,0 0,1 0,-1 0,1 1,-1-1,1 0,-1 0,0 0,1 0,-1 1,0-1,1 0,-1 0,1 1,-1-1,0 0,0 1,1-1,-1 0,0 1,0-1,1 1,-1-1,0 0,0 1,0-1,0 1,1-1,-1 0,0 1,0-1,0 1,0-1,0 1,0-1,0 1,0-1,0 0,-1 1,4 42,-3-33,22 118,-21-123,1 14,1 0,0 0,2-1,0 0,1 0,1 0,10 18,-16-35,0 0,0 0,0 0,0 0,0 0,0 0,1 0,-1 0,0 0,1-1,-1 1,1-1,-1 1,1-1,-1 1,1-1,-1 0,1 0,-1 0,1 0,0 0,-1 0,1 0,-1 0,1 0,-1-1,1 1,-1-1,1 1,-1-1,1 0,-1 1,0-1,1 0,-1 0,0 0,2-1,7-7,1 0,-1 0,12-15,-9 11,244-250,-255 261,-1 1,0-1,1 1,-1-1,1 1,-1 0,1-1,-1 1,1 0,0 0,0 0,0 1,-1-1,1 0,0 1,0-1,0 1,0-1,4 1,-5 0,0 1,0 0,0-1,0 1,0 0,0-1,0 1,0 0,0 0,0 0,-1 0,1 0,0 0,0 0,-1 0,1 0,-1 0,1 1,-1-1,0 0,1 0,-1 3,3 10,-2 1,1 0,-3 30,1-36,-2 28,0-23,1 0,1 0,0 0,1 0,4 23,-5-36,1 0,-1-1,0 1,0 0,0-1,0 1,1 0,-1-1,0 1,1 0,-1-1,0 1,1-1,-1 1,1-1,-1 1,1-1,-1 1,1-1,-1 1,1-1,0 0,-1 1,1-1,0 0,-1 1,1-1,0 0,-1 0,1 0,1 1,18-14,12-30,-32 43,12-18,2 1,16-18,-7 8,-14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6T18:12:04.7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0 145,'2'-5,"0"1,0-1,0 1,1 0,0 0,0-1,0 2,0-1,0 0,1 1,0-1,4-2,3-4,-2 2,0 1,0 0,1 0,0 1,15-7,24-15,-49 28,0 0,0-1,1 1,-1 0,0 0,0-1,1 1,-1 0,0 0,0 0,1-1,-1 1,0 0,1 0,-1 0,0 0,1 0,-1-1,0 1,1 0,-1 0,0 0,1 0,-1 0,0 0,1 0,-1 0,0 0,1 1,-1-1,0 0,1 0,-1 0,0 0,1 1,-2 13,-19 33,12-31,-30 120,38-134,0 0,0-1,0 1,0 0,0-1,0 1,1-1,-1 1,1-1,-1 1,1-1,-1 1,1-1,0 1,0-1,0 0,0 1,0-1,0 0,0 0,0 0,0 1,0-1,1-1,-1 1,0 0,3 1,17 18,15 64,-35-83,-1-1,0 1,0 0,1 0,-1-1,0 1,1-1,-1 1,1 0,-1-1,1 1,-1-1,1 1,-1-1,1 1,0-1,-1 0,1 1,0-1,-1 0,1 1,0-1,-1 0,1 0,0 1,0-1,-1 0,3 0,15-14,11-40,-24 44,3-7,-4 8,1 0,-1 0,2 0,-1 0,1 1,0 0,1 0,0 0,0 1,0 0,17-11,3-1,-16 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848EC-0643-4482-A648-3F4A8579B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6AA417-0406-4ED0-AE72-2440660FD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4345B8-DA31-4161-B12C-F323A5B7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C3708-862C-41CB-A52B-4F9976B8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E5145A-7C55-4F87-B273-510D869F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2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D4C6F-4498-4019-B724-FF677162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F536C-21A6-4D99-9483-3BB7CCFF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FF1F21-31FB-4755-BE2B-A300C9A3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DA3BE6-2EF0-49D5-BECB-1DF2557B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54E-49FB-43CB-9482-1AADF0F9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91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A4389-93F2-4DDD-84C8-BB84484D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128169-6F5D-4FC7-B1E3-880ECCF4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6B6BBE-8593-4571-A360-BA12CC65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181567-555D-4996-B8E0-E60B43A4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1DAD3-B4FA-4BA7-9F60-4C1434B6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85865-B220-456E-B0A2-AA4D3F0F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0DEA0-8D29-4BA4-B1D9-D329ADB68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713CD1-EE46-48F6-99ED-E4184857F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D8A54F-26E3-4C9E-9922-8AA9A32D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5E0167-2539-458F-B467-137ADDA6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B5DAEE-9724-41C9-BE9A-2A45991B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45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881BC-FEB7-4C2A-B248-4DEFEA7A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817FD-3BFA-4060-912E-500A70F6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48BDF4-BA7B-468E-8371-CF154FBAA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7DF0D25-8E1D-45FC-A35E-7C136A6DC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E3998A-107D-4CBF-BA13-9B5CD7731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852774-A724-4DED-BB70-228520F3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EE9B23-C4BE-47F2-8749-7C22DEA9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B69BD4-0E06-4F43-8863-16D19FD8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38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EB364-1E90-4733-8D4A-926F0C46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6435C4-484E-428B-A534-3B677EC7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A0541D-35DC-4CE9-AEF3-C611B13A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207FD9-DCDA-4DBF-9768-C755BE0A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77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8FA2A5-3599-4F6B-A2EC-5E1A0A0F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371216-9657-4916-A650-DD27AD2F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A631D6-4ECE-4478-8945-29225E38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48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1BA91-124D-4E0F-B31D-67E9C7F42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76669-E94A-45A9-B6BC-3AD5B143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E9B21-6B3A-40FF-84E5-EAADAF35E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A4FF92-8720-41C9-952F-EE40AA6B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785C91-F840-44AE-8DF6-9F437629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5ADFA5-6C6B-4F13-99BF-A822949D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01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A8DE0-3CF1-479D-8A37-E332B5F6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7F8455-EA2B-4DC1-B3C3-819CADE03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298E0-1456-46EF-8E60-34E96ED8D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49BD97-41FF-4F87-8BB8-5B21BA4F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C0277C-C7B4-4C32-B781-4F24EF38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618217-E105-432B-A650-8C697455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78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327FA-857B-49E4-A80B-99E097D7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142DC3-0EE9-48FD-AC44-04DE82E72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9BBF23-54EB-4CAF-859D-1EEE0E6B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95A156-EFDE-4562-A2DA-9CC0CA39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693A40-125D-4C39-B15E-E5322945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93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A7D619-9085-4599-8021-9501AD9FE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A09E96-B141-4C00-B679-8E710B95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4F4453-5B52-4EBE-9BA4-ADDDC939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0258D5-AB1B-4863-82AD-2804662E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9BA398-77AB-4C42-8644-2DB40A7F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73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C82DB-C7EE-4BED-A91A-3D8239EE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F63F28-F758-4BBC-A617-21A187779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45A260-71A6-43A9-A3AB-79550D575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11B8D-2DD5-480B-B9A3-F7ACA637ACF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35BE9-E5D3-43D4-AE1B-7CF26762D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8C03B-0745-47DB-9E57-5A12ED184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3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80054-8A79-49C6-801B-BFB9DC55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Теоретические блоки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93AC2-51A1-4C28-AFDC-CFA6A64A2B9F}"/>
              </a:ext>
            </a:extLst>
          </p:cNvPr>
          <p:cNvSpPr txBox="1"/>
          <p:nvPr/>
        </p:nvSpPr>
        <p:spPr>
          <a:xfrm>
            <a:off x="1066800" y="1989667"/>
            <a:ext cx="156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Branching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29C01-A6C1-4B8C-839E-63AADBF5AB83}"/>
              </a:ext>
            </a:extLst>
          </p:cNvPr>
          <p:cNvSpPr txBox="1"/>
          <p:nvPr/>
        </p:nvSpPr>
        <p:spPr>
          <a:xfrm>
            <a:off x="1066799" y="2473312"/>
            <a:ext cx="196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/>
              <a:t>Особенности </a:t>
            </a:r>
            <a:r>
              <a:rPr lang="en-US" dirty="0"/>
              <a:t>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DF58D-DA10-4D5C-AD2C-8CEC8F382B14}"/>
              </a:ext>
            </a:extLst>
          </p:cNvPr>
          <p:cNvSpPr txBox="1"/>
          <p:nvPr/>
        </p:nvSpPr>
        <p:spPr>
          <a:xfrm>
            <a:off x="1066800" y="3059668"/>
            <a:ext cx="1566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Java Collection Framework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760F3-01E3-4B11-9D83-0E131C989DA8}"/>
              </a:ext>
            </a:extLst>
          </p:cNvPr>
          <p:cNvSpPr txBox="1"/>
          <p:nvPr/>
        </p:nvSpPr>
        <p:spPr>
          <a:xfrm>
            <a:off x="1066800" y="3923023"/>
            <a:ext cx="156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Exceptions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14AC3-91BB-4BFE-8A6D-1088D4512F73}"/>
              </a:ext>
            </a:extLst>
          </p:cNvPr>
          <p:cNvSpPr txBox="1"/>
          <p:nvPr/>
        </p:nvSpPr>
        <p:spPr>
          <a:xfrm>
            <a:off x="1066800" y="4509379"/>
            <a:ext cx="196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/>
              <a:t>Многопоточность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0A8CB-2C1F-42B9-987F-759E6D3E8E46}"/>
              </a:ext>
            </a:extLst>
          </p:cNvPr>
          <p:cNvSpPr txBox="1"/>
          <p:nvPr/>
        </p:nvSpPr>
        <p:spPr>
          <a:xfrm>
            <a:off x="4648200" y="1989667"/>
            <a:ext cx="196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/>
              <a:t>Многопоточность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8F3CEE-42FB-4483-881E-F02682D6386A}"/>
              </a:ext>
            </a:extLst>
          </p:cNvPr>
          <p:cNvSpPr txBox="1"/>
          <p:nvPr/>
        </p:nvSpPr>
        <p:spPr>
          <a:xfrm>
            <a:off x="4648199" y="2535412"/>
            <a:ext cx="3327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/>
              <a:t>Многопоточность</a:t>
            </a:r>
            <a:r>
              <a:rPr lang="en-US" dirty="0"/>
              <a:t> </a:t>
            </a:r>
            <a:r>
              <a:rPr lang="en-US" dirty="0" err="1"/>
              <a:t>struchkov.dev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AEC0A9-4473-453D-A1E9-8DEC3127C0DE}"/>
              </a:ext>
            </a:extLst>
          </p:cNvPr>
          <p:cNvSpPr txBox="1"/>
          <p:nvPr/>
        </p:nvSpPr>
        <p:spPr>
          <a:xfrm>
            <a:off x="4648199" y="3141623"/>
            <a:ext cx="3725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/>
              <a:t>Подключение платежной системы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BDBFC-4539-4B8E-9896-7EFC240EB6E6}"/>
              </a:ext>
            </a:extLst>
          </p:cNvPr>
          <p:cNvSpPr txBox="1"/>
          <p:nvPr/>
        </p:nvSpPr>
        <p:spPr>
          <a:xfrm>
            <a:off x="4648199" y="3747834"/>
            <a:ext cx="3327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Liquibase </a:t>
            </a:r>
            <a:r>
              <a:rPr lang="en-US" dirty="0" err="1"/>
              <a:t>struchkov.dev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06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8AF449-50F4-4EB8-9C4C-28D924A1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65" y="505884"/>
            <a:ext cx="2872423" cy="28556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036E13-3AA6-45E0-B812-8E666CC20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410" y="505884"/>
            <a:ext cx="3419475" cy="3352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5E3E95-4927-4B1C-926E-CA8F80818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14" y="3886200"/>
            <a:ext cx="5435652" cy="27877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A84F06-FBC9-4179-A9C5-44FBEDF29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310" y="4701205"/>
            <a:ext cx="5631676" cy="1972733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5B1A368-F8ED-4EA0-8F69-523EFA093B8A}"/>
              </a:ext>
            </a:extLst>
          </p:cNvPr>
          <p:cNvCxnSpPr/>
          <p:nvPr/>
        </p:nvCxnSpPr>
        <p:spPr>
          <a:xfrm>
            <a:off x="5808133" y="0"/>
            <a:ext cx="0" cy="6985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Знак умножения 1">
            <a:extLst>
              <a:ext uri="{FF2B5EF4-FFF2-40B4-BE49-F238E27FC236}">
                <a16:creationId xmlns:a16="http://schemas.microsoft.com/office/drawing/2014/main" id="{6C4F9542-FA3B-4643-BD87-B9FDE991490E}"/>
              </a:ext>
            </a:extLst>
          </p:cNvPr>
          <p:cNvSpPr/>
          <p:nvPr/>
        </p:nvSpPr>
        <p:spPr>
          <a:xfrm>
            <a:off x="7788354" y="6062133"/>
            <a:ext cx="147099" cy="143934"/>
          </a:xfrm>
          <a:prstGeom prst="mathMultiply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969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789054-6B11-4705-8009-75966E9E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83" y="205316"/>
            <a:ext cx="2122386" cy="14456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B7CCFC-320F-4BCA-B7F2-B9F0EC35C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947" y="199907"/>
            <a:ext cx="2081783" cy="144568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DF4DF2-220E-46D5-A4BE-3830570B0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226" y="199907"/>
            <a:ext cx="2196041" cy="1448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C33118-D50A-4A3E-9D6E-AA1768DE310E}"/>
              </a:ext>
            </a:extLst>
          </p:cNvPr>
          <p:cNvSpPr txBox="1"/>
          <p:nvPr/>
        </p:nvSpPr>
        <p:spPr>
          <a:xfrm>
            <a:off x="1185333" y="2235200"/>
            <a:ext cx="1437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 likes it ?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BD507-CDE1-4D68-B32B-8E4334C3209F}"/>
              </a:ext>
            </a:extLst>
          </p:cNvPr>
          <p:cNvSpPr txBox="1"/>
          <p:nvPr/>
        </p:nvSpPr>
        <p:spPr>
          <a:xfrm>
            <a:off x="952731" y="2683933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Group-by and Sum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871084-9568-4E34-A947-AC08DD3B5A2C}"/>
              </a:ext>
            </a:extLst>
          </p:cNvPr>
          <p:cNvSpPr txBox="1"/>
          <p:nvPr/>
        </p:nvSpPr>
        <p:spPr>
          <a:xfrm>
            <a:off x="5100244" y="2235200"/>
            <a:ext cx="166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Simple Pig Latin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10160-1EA7-49A6-B6A8-81A7D6201028}"/>
              </a:ext>
            </a:extLst>
          </p:cNvPr>
          <p:cNvSpPr txBox="1"/>
          <p:nvPr/>
        </p:nvSpPr>
        <p:spPr>
          <a:xfrm>
            <a:off x="4756592" y="2683933"/>
            <a:ext cx="234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RGB To Hex Conversion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686ED-53A4-462D-B64D-E42CE5EA703B}"/>
              </a:ext>
            </a:extLst>
          </p:cNvPr>
          <p:cNvSpPr txBox="1"/>
          <p:nvPr/>
        </p:nvSpPr>
        <p:spPr>
          <a:xfrm>
            <a:off x="9291652" y="2235200"/>
            <a:ext cx="1690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Strip Comments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BDD62-5982-4E10-AEA8-19DCBB6AB178}"/>
              </a:ext>
            </a:extLst>
          </p:cNvPr>
          <p:cNvSpPr txBox="1"/>
          <p:nvPr/>
        </p:nvSpPr>
        <p:spPr>
          <a:xfrm>
            <a:off x="8365019" y="2683933"/>
            <a:ext cx="329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 readable duration format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6FAEC-B9DD-41A7-A016-FB0A89833A91}"/>
              </a:ext>
            </a:extLst>
          </p:cNvPr>
          <p:cNvSpPr txBox="1"/>
          <p:nvPr/>
        </p:nvSpPr>
        <p:spPr>
          <a:xfrm>
            <a:off x="4798207" y="3132666"/>
            <a:ext cx="2307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 Readable Time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6F76B4-DDD4-4909-B456-3A9B39EBA785}"/>
              </a:ext>
            </a:extLst>
          </p:cNvPr>
          <p:cNvSpPr txBox="1"/>
          <p:nvPr/>
        </p:nvSpPr>
        <p:spPr>
          <a:xfrm>
            <a:off x="860410" y="3132666"/>
            <a:ext cx="2276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Phone Number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081B5-E208-4201-B4D8-29610C84E663}"/>
              </a:ext>
            </a:extLst>
          </p:cNvPr>
          <p:cNvSpPr txBox="1"/>
          <p:nvPr/>
        </p:nvSpPr>
        <p:spPr>
          <a:xfrm>
            <a:off x="1753084" y="38015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C6C257-B01A-4AEB-B720-8F78EB2A7172}"/>
              </a:ext>
            </a:extLst>
          </p:cNvPr>
          <p:cNvSpPr txBox="1"/>
          <p:nvPr/>
        </p:nvSpPr>
        <p:spPr>
          <a:xfrm>
            <a:off x="5780462" y="38015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B7954B-2914-4678-9D13-92E5D9C8E9FA}"/>
              </a:ext>
            </a:extLst>
          </p:cNvPr>
          <p:cNvSpPr txBox="1"/>
          <p:nvPr/>
        </p:nvSpPr>
        <p:spPr>
          <a:xfrm>
            <a:off x="9978511" y="38015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DB6CE1B-C213-485C-9435-DFB23B5E4C40}"/>
              </a:ext>
            </a:extLst>
          </p:cNvPr>
          <p:cNvCxnSpPr/>
          <p:nvPr/>
        </p:nvCxnSpPr>
        <p:spPr>
          <a:xfrm>
            <a:off x="0" y="380153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4A2DF59-164F-4F0F-BAB7-C5CA6CE4B653}"/>
              </a:ext>
            </a:extLst>
          </p:cNvPr>
          <p:cNvSpPr txBox="1"/>
          <p:nvPr/>
        </p:nvSpPr>
        <p:spPr>
          <a:xfrm>
            <a:off x="848964" y="5324961"/>
            <a:ext cx="1550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Всего: </a:t>
            </a:r>
            <a:r>
              <a:rPr lang="en-US" sz="3200" dirty="0"/>
              <a:t>8</a:t>
            </a:r>
            <a:endParaRPr lang="ru-RU" sz="3200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83E4E12-EFD6-4ADA-BB61-BA1D8F8149BF}"/>
              </a:ext>
            </a:extLst>
          </p:cNvPr>
          <p:cNvCxnSpPr>
            <a:cxnSpLocks/>
          </p:cNvCxnSpPr>
          <p:nvPr/>
        </p:nvCxnSpPr>
        <p:spPr>
          <a:xfrm>
            <a:off x="3776133" y="0"/>
            <a:ext cx="0" cy="3801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BE248B34-85D0-4122-8F92-6C2E279D9067}"/>
              </a:ext>
            </a:extLst>
          </p:cNvPr>
          <p:cNvCxnSpPr>
            <a:cxnSpLocks/>
          </p:cNvCxnSpPr>
          <p:nvPr/>
        </p:nvCxnSpPr>
        <p:spPr>
          <a:xfrm>
            <a:off x="8094133" y="0"/>
            <a:ext cx="0" cy="3801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170216-EF0F-4BE9-906F-276C77C75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260" y="4278956"/>
            <a:ext cx="4829704" cy="237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C3EA0-79CA-4A01-8FFF-CFCF0EFB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07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+mn-lt"/>
              </a:rPr>
              <a:t>API </a:t>
            </a:r>
            <a:r>
              <a:rPr lang="ru-RU" dirty="0">
                <a:latin typeface="+mn-lt"/>
              </a:rPr>
              <a:t>для бронирования отелей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7A161-6D64-483E-9D74-6E4BFD45B3FA}"/>
              </a:ext>
            </a:extLst>
          </p:cNvPr>
          <p:cNvSpPr txBox="1"/>
          <p:nvPr/>
        </p:nvSpPr>
        <p:spPr>
          <a:xfrm>
            <a:off x="185921" y="664272"/>
            <a:ext cx="5910079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/>
              <a:t>1. Управление отелями и номерами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CRUD операции для отелей CRUD операции для номеров отелей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Управление фотогалереей отелей и номеров </a:t>
            </a:r>
            <a:endParaRPr lang="en-US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Настройка категорий отелей </a:t>
            </a:r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ru-RU" sz="1600" dirty="0"/>
              <a:t>2. Бронирование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Проверка доступности номеров на выбранные даты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Расчет стоимости брони с учетом сезонных коэффициентов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Учет количества гостей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Генерация подтверждения брони </a:t>
            </a:r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ru-RU" sz="1600" dirty="0"/>
              <a:t>3. Отмена брони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Автоматическая отмена при неоплате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Возврат средств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Логирование причин отмены</a:t>
            </a:r>
            <a:endParaRPr lang="en-US" sz="1600" dirty="0"/>
          </a:p>
          <a:p>
            <a:pPr algn="l"/>
            <a:endParaRPr lang="ru-RU" sz="1600" dirty="0"/>
          </a:p>
          <a:p>
            <a:pPr algn="l"/>
            <a:r>
              <a:rPr lang="ru-RU" sz="1600" dirty="0"/>
              <a:t>4. Поиск и фильтрация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Поиск по геолокации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Фильтры: цена, рейтинг, удобства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Сортировка</a:t>
            </a:r>
            <a:endParaRPr lang="en-US" sz="1600" dirty="0"/>
          </a:p>
          <a:p>
            <a:pPr algn="l"/>
            <a:endParaRPr lang="ru-RU" sz="1600" dirty="0"/>
          </a:p>
          <a:p>
            <a:pPr algn="l"/>
            <a:r>
              <a:rPr lang="ru-RU" sz="1600" dirty="0"/>
              <a:t>5. Аутентификация и авторизация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Регистрация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Ролевая модель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JWT токены</a:t>
            </a:r>
          </a:p>
          <a:p>
            <a:endParaRPr lang="ru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15CDD-FA37-44AF-9862-242F062138D9}"/>
              </a:ext>
            </a:extLst>
          </p:cNvPr>
          <p:cNvSpPr txBox="1"/>
          <p:nvPr/>
        </p:nvSpPr>
        <p:spPr>
          <a:xfrm>
            <a:off x="8956923" y="767932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16.06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EB0C5E8-6331-4D27-9CE1-4208F12153D8}"/>
              </a:ext>
            </a:extLst>
          </p:cNvPr>
          <p:cNvCxnSpPr>
            <a:cxnSpLocks/>
          </p:cNvCxnSpPr>
          <p:nvPr/>
        </p:nvCxnSpPr>
        <p:spPr>
          <a:xfrm flipV="1">
            <a:off x="8411270" y="6028073"/>
            <a:ext cx="3580433" cy="1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E1CB92-4FCA-433E-B40C-EB9488FBC1F0}"/>
              </a:ext>
            </a:extLst>
          </p:cNvPr>
          <p:cNvSpPr txBox="1"/>
          <p:nvPr/>
        </p:nvSpPr>
        <p:spPr>
          <a:xfrm>
            <a:off x="9851871" y="6147246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</a:t>
            </a:r>
            <a:r>
              <a:rPr lang="ru-RU" dirty="0"/>
              <a:t>21%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1DBEC-BED3-4E79-A08F-A0CBFCAA1D65}"/>
              </a:ext>
            </a:extLst>
          </p:cNvPr>
          <p:cNvSpPr txBox="1"/>
          <p:nvPr/>
        </p:nvSpPr>
        <p:spPr>
          <a:xfrm>
            <a:off x="8666266" y="1013240"/>
            <a:ext cx="1234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Выполнено: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6838A-2CD7-4190-A3B3-B291D9DD462D}"/>
              </a:ext>
            </a:extLst>
          </p:cNvPr>
          <p:cNvSpPr txBox="1"/>
          <p:nvPr/>
        </p:nvSpPr>
        <p:spPr>
          <a:xfrm>
            <a:off x="7801854" y="1597102"/>
            <a:ext cx="31972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dirty="0"/>
              <a:t>5. Аутентификация и авторизация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Регистрация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Ролевая модель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JWT токены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C037C6-7FEC-4365-ADEA-84A2A71BACE7}"/>
              </a:ext>
            </a:extLst>
          </p:cNvPr>
          <p:cNvSpPr/>
          <p:nvPr/>
        </p:nvSpPr>
        <p:spPr>
          <a:xfrm>
            <a:off x="200297" y="5817326"/>
            <a:ext cx="3074126" cy="97536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D68868-5DE4-4953-B2A5-BC75397323B1}"/>
              </a:ext>
            </a:extLst>
          </p:cNvPr>
          <p:cNvSpPr/>
          <p:nvPr/>
        </p:nvSpPr>
        <p:spPr>
          <a:xfrm>
            <a:off x="200297" y="1861774"/>
            <a:ext cx="5373189" cy="1325563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8AD5DEE-2BBF-42D6-B895-461BF97101BB}"/>
              </a:ext>
            </a:extLst>
          </p:cNvPr>
          <p:cNvSpPr/>
          <p:nvPr/>
        </p:nvSpPr>
        <p:spPr>
          <a:xfrm>
            <a:off x="7801854" y="1648031"/>
            <a:ext cx="3074126" cy="97536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FB02631-CED7-4BF0-9FC3-A7A4CB538115}"/>
              </a:ext>
            </a:extLst>
          </p:cNvPr>
          <p:cNvCxnSpPr/>
          <p:nvPr/>
        </p:nvCxnSpPr>
        <p:spPr>
          <a:xfrm>
            <a:off x="9170129" y="5935133"/>
            <a:ext cx="0" cy="200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DBD7518B-9F47-4D2A-AAF5-3B5F5C9BD236}"/>
                  </a:ext>
                </a:extLst>
              </p14:cNvPr>
              <p14:cNvContentPartPr/>
              <p14:nvPr/>
            </p14:nvContentPartPr>
            <p14:xfrm>
              <a:off x="8428508" y="5909093"/>
              <a:ext cx="616680" cy="195840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DBD7518B-9F47-4D2A-AAF5-3B5F5C9BD2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9508" y="5900093"/>
                <a:ext cx="6343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E7B2E426-692D-4797-9AC5-5FD81DF1DEF8}"/>
                  </a:ext>
                </a:extLst>
              </p14:cNvPr>
              <p14:cNvContentPartPr/>
              <p14:nvPr/>
            </p14:nvContentPartPr>
            <p14:xfrm>
              <a:off x="9022148" y="5961293"/>
              <a:ext cx="144720" cy="133560"/>
            </p14:xfrm>
          </p:contentPart>
        </mc:Choice>
        <mc:Fallback xmlns=""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E7B2E426-692D-4797-9AC5-5FD81DF1DE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13148" y="5952317"/>
                <a:ext cx="162360" cy="151153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A215EF-CE26-4FE0-B4CD-4366AF443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614" y="2948079"/>
            <a:ext cx="4736299" cy="257306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BC6F656-08D1-4B03-A784-DB7BB3DAEB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519" y="3401680"/>
            <a:ext cx="1209750" cy="33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0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41F7E-271F-493D-94D7-3DE9FE191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Планы до 24.06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78254-F52A-4B68-A252-A25830E2D6A7}"/>
              </a:ext>
            </a:extLst>
          </p:cNvPr>
          <p:cNvSpPr txBox="1"/>
          <p:nvPr/>
        </p:nvSpPr>
        <p:spPr>
          <a:xfrm>
            <a:off x="348344" y="1665784"/>
            <a:ext cx="59044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dirty="0"/>
              <a:t>1. Управление отелями и номерами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CRUD операции для отелей CRUD операции для номеров отелей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Управление фотогалереей отелей и номеров </a:t>
            </a:r>
            <a:endParaRPr lang="en-US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Настройка категорий отелей </a:t>
            </a:r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ru-RU" sz="1600" dirty="0"/>
              <a:t>2. Бронирование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Проверка доступности номеров на выбранные даты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Расчет стоимости брони с учетом сезонных коэффициентов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Учет количества гостей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/>
              <a:t>Генерация подтверждения брони </a:t>
            </a:r>
            <a:endParaRPr lang="en-US" sz="16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646E0FE-4BAE-4D3E-9E5D-B862777A1A94}"/>
              </a:ext>
            </a:extLst>
          </p:cNvPr>
          <p:cNvSpPr/>
          <p:nvPr/>
        </p:nvSpPr>
        <p:spPr>
          <a:xfrm>
            <a:off x="348343" y="1665783"/>
            <a:ext cx="5904411" cy="255454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34B0CE-425D-4E8A-BC93-2BABB37305F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9278033" y="1690686"/>
            <a:ext cx="1642516" cy="96040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EED54E-6E37-4051-9C5C-6379A96B5BE9}"/>
              </a:ext>
            </a:extLst>
          </p:cNvPr>
          <p:cNvSpPr txBox="1"/>
          <p:nvPr/>
        </p:nvSpPr>
        <p:spPr>
          <a:xfrm>
            <a:off x="8451726" y="18785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6E4A013-9AA5-45A3-88CA-A4BC24BDF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596" y="3753978"/>
            <a:ext cx="5247060" cy="22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6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8B32A-5494-46F1-A401-1F208F86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697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pic>
        <p:nvPicPr>
          <p:cNvPr id="2050" name="Picture 2" descr="El Gato Meme&quot; Sticker for Sale by pinkjellydragon | Redbubble">
            <a:extLst>
              <a:ext uri="{FF2B5EF4-FFF2-40B4-BE49-F238E27FC236}">
                <a16:creationId xmlns:a16="http://schemas.microsoft.com/office/drawing/2014/main" id="{D2CBFCF5-8B31-45EA-849C-C73E1A575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29667" y1="18167" x2="34000" y2="48667"/>
                        <a14:backgroundMark x1="34000" y1="48667" x2="32333" y2="61333"/>
                        <a14:backgroundMark x1="32333" y1="61333" x2="38833" y2="86667"/>
                        <a14:backgroundMark x1="38833" y1="86667" x2="52167" y2="90333"/>
                        <a14:backgroundMark x1="52167" y1="90333" x2="53833" y2="89667"/>
                        <a14:backgroundMark x1="46333" y1="87500" x2="46000" y2="86667"/>
                        <a14:backgroundMark x1="62667" y1="81500" x2="57333" y2="87167"/>
                        <a14:backgroundMark x1="56500" y1="85667" x2="61500" y2="81500"/>
                        <a14:backgroundMark x1="60833" y1="81500" x2="58000" y2="8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284" y="1896697"/>
            <a:ext cx="4709432" cy="470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2036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211</Words>
  <Application>Microsoft Office PowerPoint</Application>
  <PresentationFormat>Широкоэкранный</PresentationFormat>
  <Paragraphs>68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Теоретические блоки</vt:lpstr>
      <vt:lpstr>Презентация PowerPoint</vt:lpstr>
      <vt:lpstr>Презентация PowerPoint</vt:lpstr>
      <vt:lpstr>API для бронирования отелей</vt:lpstr>
      <vt:lpstr>Планы до 24.06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Luflexia ⠀</dc:creator>
  <cp:lastModifiedBy>Luflexia ⠀</cp:lastModifiedBy>
  <cp:revision>32</cp:revision>
  <dcterms:created xsi:type="dcterms:W3CDTF">2025-06-16T17:41:17Z</dcterms:created>
  <dcterms:modified xsi:type="dcterms:W3CDTF">2025-06-17T12:19:59Z</dcterms:modified>
</cp:coreProperties>
</file>