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9" r:id="rId1"/>
  </p:sldMasterIdLst>
  <p:sldIdLst>
    <p:sldId id="256" r:id="rId2"/>
    <p:sldId id="262" r:id="rId3"/>
    <p:sldId id="263" r:id="rId4"/>
    <p:sldId id="266" r:id="rId5"/>
    <p:sldId id="271" r:id="rId6"/>
    <p:sldId id="257" r:id="rId7"/>
    <p:sldId id="259" r:id="rId8"/>
    <p:sldId id="268" r:id="rId9"/>
    <p:sldId id="269" r:id="rId10"/>
    <p:sldId id="272" r:id="rId11"/>
    <p:sldId id="270" r:id="rId12"/>
  </p:sldIdLst>
  <p:sldSz cx="12192000" cy="6858000"/>
  <p:notesSz cx="6858000" cy="9144000"/>
  <p:embeddedFontLst>
    <p:embeddedFont>
      <p:font typeface="Bahnschrift" panose="020B0502040204020203" pitchFamily="34" charset="0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</p:embeddedFontLst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90" d="100"/>
          <a:sy n="90" d="100"/>
        </p:scale>
        <p:origin x="24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4B97C-A012-4D8C-0FCD-39FAD6497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1CD273-82EB-A637-E7A7-E2C64697F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733E00-943B-E0A6-F084-CD9326B40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2D51A0-E407-BD38-4131-3846A5BC0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717136-1FDC-CD63-BBE9-8E825BBF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50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DC94CD-D39C-2F18-3022-D6F75CBDC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08DE1A-ABE7-FBFC-2E86-BF705C6E6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68A73A-C98D-04A7-1EB2-40921E313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691063-06FC-353A-C34F-43103456A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84752-82AE-0999-CE5C-887081DF3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06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A3EBA-6F00-6866-C900-5FAB8945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FA35F8-2077-152C-9B35-7CEE50677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15BF9-9FFE-60CF-6C20-3FA006DE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73FE46-22E1-7560-B0D2-9B001601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03E93-1D1C-4808-C3FD-557CAA02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36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B3FA1-227F-D8BB-50ED-50067D61F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D3A8F4-9A2A-B781-F4DD-68F56371D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9C4E86-8203-6700-0723-662A7C4D0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CD9564-97E8-B0FA-4FA7-85AF9C42D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428385-E964-31CE-D73F-0029AA16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F29FEB-D268-1146-455D-0A31F890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38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DE8CA1-625C-71F1-3B60-CF3E8028E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357C7A-447B-E694-5704-5C315B9FD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F4568E-F8E8-8C19-8824-E1E302F58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186D997-F724-D6F5-43A9-5B988E705E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763ACC-0414-C09C-8605-30A226D9E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A5CA7AE-CA32-F942-FF01-2E27939AA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4E76C01-78BA-C9A7-C41D-EC4A17F5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1517A71-6674-BB15-0261-FE02B5DE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26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9702B-1BBE-F32A-0020-8ACEDACD0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AFE93D0-2A0E-260A-158B-2FBC36ED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8F8D751-CDC2-47C6-0E56-D153049CE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0C8C57-E571-09C4-BC45-33901F08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12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01E2EDE-628E-C940-0650-D0843E1B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5B49A08-0596-56D1-0BD6-34991B2E0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CE11B9-B478-9B6E-F6D7-1C614021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63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77D86-D1B9-6FFD-A9A4-572DFF6CE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81D981-EBA4-64D7-D923-EACDDD345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76EE09-C4F4-270B-57E0-DC0C656E6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E3E256-E10E-26D2-0E61-ABBC95EE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9C69BF-D050-E349-24C4-8744530A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51CEBE-CF98-AAF4-A46A-1B511FAE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39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A7EA5-D22D-D4DC-ED16-7DAC8D85F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4F23B7-0ECA-4167-6A34-12E7BE78F8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D654AE-8EC6-EB70-4A43-B6E5254C1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8F99F0-B374-E432-4A04-7A1A47085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37BF56-2DF5-A22F-4B11-B42886772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45926C-2B51-1217-0328-784A4C65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591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430A8-BAD9-F6E1-35B8-9EA5083CA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5AA7EB9-4776-84C4-A48C-E8E167ED3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A96F7-87A5-F73B-E74A-B87929506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2F5020-6630-9CF7-9543-B7C57480E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899D3E-B5E6-DE8A-E8DC-4C3AB60B5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89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1D5459B-9FE1-B71E-4422-C43997B88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10F6AC-FFA7-1B31-1636-F55FECE5F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477F48-3064-31F2-5A6A-9490B27B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9F0315-32F4-79B8-634E-49216763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ABF65C-3659-F8B9-4D7A-3D9FF410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195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A5C36-2BB4-A536-4540-513AAEF17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29D087-D0BD-549E-B4DF-9123B53E5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E6BDB6-15FA-495E-AB1F-512530ADF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D59E1D-0166-381F-4BF3-81DFA8976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CA9DFA-537E-B7F2-EC72-59EF27765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794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C7D70-03B9-F28E-4D2A-6928D8B60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467" y="592940"/>
            <a:ext cx="8767605" cy="1936267"/>
          </a:xfrm>
        </p:spPr>
        <p:txBody>
          <a:bodyPr>
            <a:normAutofit/>
          </a:bodyPr>
          <a:lstStyle/>
          <a:p>
            <a:pPr algn="l"/>
            <a:r>
              <a:rPr lang="ru-RU" sz="4000" b="1" dirty="0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Программный модуль адаптивного поведения персонажей 2D-игры</a:t>
            </a:r>
            <a:br>
              <a:rPr lang="ru-RU" sz="4000" b="1" dirty="0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</a:br>
            <a:r>
              <a:rPr lang="ru-RU" sz="4000" b="1" dirty="0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в жанре </a:t>
            </a:r>
            <a:r>
              <a:rPr lang="ru-RU" sz="4000" b="1" dirty="0" err="1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ActionRPG</a:t>
            </a:r>
            <a:endParaRPr lang="x-none" sz="4000" b="1" dirty="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FAFD0E-F25F-DF56-8AA1-79F42F067C31}"/>
              </a:ext>
            </a:extLst>
          </p:cNvPr>
          <p:cNvSpPr txBox="1"/>
          <p:nvPr/>
        </p:nvSpPr>
        <p:spPr>
          <a:xfrm>
            <a:off x="7448550" y="4216498"/>
            <a:ext cx="43219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ahnschrift" panose="020B0502040204020203" pitchFamily="34" charset="0"/>
                <a:cs typeface="Arial" panose="020B0604020202020204" pitchFamily="34" charset="0"/>
              </a:rPr>
              <a:t>Автор:</a:t>
            </a:r>
          </a:p>
          <a:p>
            <a:r>
              <a:rPr lang="ru-RU" sz="2000" dirty="0">
                <a:latin typeface="Bahnschrift" panose="020B0502040204020203" pitchFamily="34" charset="0"/>
                <a:cs typeface="Arial" panose="020B0604020202020204" pitchFamily="34" charset="0"/>
              </a:rPr>
              <a:t>студент группы 250501</a:t>
            </a:r>
          </a:p>
          <a:p>
            <a:r>
              <a:rPr lang="ru-RU" sz="2000" dirty="0" err="1">
                <a:latin typeface="Bahnschrift" panose="020B0502040204020203" pitchFamily="34" charset="0"/>
                <a:cs typeface="Arial" panose="020B0604020202020204" pitchFamily="34" charset="0"/>
              </a:rPr>
              <a:t>Снитко</a:t>
            </a:r>
            <a:r>
              <a:rPr lang="ru-RU" sz="2000" dirty="0">
                <a:latin typeface="Bahnschrift" panose="020B0502040204020203" pitchFamily="34" charset="0"/>
                <a:cs typeface="Arial" panose="020B0604020202020204" pitchFamily="34" charset="0"/>
              </a:rPr>
              <a:t> Даниил Александрович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0A1C8-48E7-26CA-DFEE-440E50876B04}"/>
              </a:ext>
            </a:extLst>
          </p:cNvPr>
          <p:cNvSpPr txBox="1"/>
          <p:nvPr/>
        </p:nvSpPr>
        <p:spPr>
          <a:xfrm>
            <a:off x="7448550" y="5460761"/>
            <a:ext cx="45210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ahnschrift" panose="020B0502040204020203" pitchFamily="34" charset="0"/>
                <a:cs typeface="Arial" panose="020B0604020202020204" pitchFamily="34" charset="0"/>
              </a:rPr>
              <a:t>Руководитель:</a:t>
            </a:r>
          </a:p>
          <a:p>
            <a:r>
              <a:rPr lang="ru-RU" sz="2000" dirty="0">
                <a:latin typeface="Bahnschrift" panose="020B0502040204020203" pitchFamily="34" charset="0"/>
              </a:rPr>
              <a:t>кандидат технических наук, доцент</a:t>
            </a:r>
            <a:br>
              <a:rPr lang="ru-RU" sz="2000" i="1" dirty="0"/>
            </a:br>
            <a:r>
              <a:rPr lang="ru-RU" sz="2000" dirty="0">
                <a:latin typeface="Bahnschrift" panose="020B0502040204020203" pitchFamily="34" charset="0"/>
              </a:rPr>
              <a:t>Ульянов Николай Иванович</a:t>
            </a:r>
          </a:p>
        </p:txBody>
      </p:sp>
    </p:spTree>
    <p:extLst>
      <p:ext uri="{BB962C8B-B14F-4D97-AF65-F5344CB8AC3E}">
        <p14:creationId xmlns:p14="http://schemas.microsoft.com/office/powerpoint/2010/main" val="1312607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5468" y="0"/>
            <a:ext cx="6593916" cy="1243294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Bahnschrift" panose="020B0502040204020203" pitchFamily="34" charset="0"/>
                <a:cs typeface="Arial" panose="020B0604020202020204" pitchFamily="34" charset="0"/>
              </a:rPr>
              <a:t>Цели и задачи</a:t>
            </a:r>
            <a:endParaRPr lang="ru-RU" sz="3600" dirty="0">
              <a:latin typeface="Bahnschrift" panose="020B0502040204020203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BF82A0-3AEB-D11E-CBB7-1600BFB8EEFC}"/>
              </a:ext>
            </a:extLst>
          </p:cNvPr>
          <p:cNvSpPr/>
          <p:nvPr/>
        </p:nvSpPr>
        <p:spPr>
          <a:xfrm>
            <a:off x="935468" y="3798824"/>
            <a:ext cx="1053263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>
                <a:latin typeface="Bahnschrift" panose="020B0502040204020203" pitchFamily="34" charset="0"/>
                <a:cs typeface="Arial" panose="020B0604020202020204" pitchFamily="34" charset="0"/>
              </a:rPr>
              <a:t>Задачи</a:t>
            </a:r>
            <a:r>
              <a:rPr lang="ru-RU" sz="2000" dirty="0">
                <a:latin typeface="Bahnschrift" panose="020B0502040204020203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ru-RU" sz="1800" dirty="0">
                <a:effectLst/>
                <a:latin typeface="Bahnschrift" panose="020B0502040204020203" pitchFamily="34" charset="0"/>
                <a:ea typeface="Times New Roman" panose="02020603050405020304" pitchFamily="18" charset="0"/>
              </a:rPr>
              <a:t>– разработать игровую среду, базовые игровые механики и модуль процедурной генерации комнат для функционирования программного модуля;</a:t>
            </a:r>
          </a:p>
          <a:p>
            <a:r>
              <a:rPr lang="ru-RU" sz="1800" dirty="0">
                <a:effectLst/>
                <a:latin typeface="Bahnschrift" panose="020B0502040204020203" pitchFamily="34" charset="0"/>
                <a:ea typeface="Times New Roman" panose="02020603050405020304" pitchFamily="18" charset="0"/>
              </a:rPr>
              <a:t>– спроектировать конечный автомат состояний поведения противников;</a:t>
            </a:r>
          </a:p>
          <a:p>
            <a:r>
              <a:rPr lang="ru-RU" sz="1800" dirty="0">
                <a:effectLst/>
                <a:latin typeface="Bahnschrift" panose="020B0502040204020203" pitchFamily="34" charset="0"/>
                <a:ea typeface="Times New Roman" panose="02020603050405020304" pitchFamily="18" charset="0"/>
              </a:rPr>
              <a:t>– реализовать модуль адаптивного выбора поведения на основе оценки угрозы, динамической адаптации весов факторов, памяти действий игрока и функций полезности состояний.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CBD8325-2192-4E99-B8B9-D0178711DB27}"/>
              </a:ext>
            </a:extLst>
          </p:cNvPr>
          <p:cNvSpPr/>
          <p:nvPr/>
        </p:nvSpPr>
        <p:spPr>
          <a:xfrm>
            <a:off x="935469" y="1605244"/>
            <a:ext cx="93116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>
                <a:latin typeface="Bahnschrift" panose="020B0502040204020203" pitchFamily="34" charset="0"/>
                <a:cs typeface="Arial" panose="020B0604020202020204" pitchFamily="34" charset="0"/>
              </a:rPr>
              <a:t>Цель</a:t>
            </a:r>
            <a:r>
              <a:rPr lang="ru-RU" sz="2000" dirty="0">
                <a:latin typeface="Bahnschrift" panose="020B0502040204020203" pitchFamily="34" charset="0"/>
                <a:cs typeface="Arial" panose="020B0604020202020204" pitchFamily="34" charset="0"/>
              </a:rPr>
              <a:t>:</a:t>
            </a:r>
          </a:p>
          <a:p>
            <a:pPr marL="0" marR="0" indent="0" algn="l" rtl="0">
              <a:buNone/>
            </a:pPr>
            <a:r>
              <a:rPr lang="ru-RU" sz="1800" dirty="0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Целью дипломного проекта является разработка программного модуля адаптивного поведения противников и создание двумерной игровой среды в жанре </a:t>
            </a:r>
            <a:r>
              <a:rPr lang="ru-RU" sz="1800" dirty="0" err="1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ActionRPG</a:t>
            </a:r>
            <a:r>
              <a:rPr lang="ru-RU" sz="1800" dirty="0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 для его функционирования, обеспечивающих изменение состояний поведения противников на основе параметров игровой ситуации и последних действий игрока</a:t>
            </a:r>
            <a:r>
              <a:rPr lang="ru-RU" sz="2000" dirty="0">
                <a:latin typeface="Bahnschrift" panose="020B0502040204020203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306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47402" y="0"/>
            <a:ext cx="6297199" cy="1109202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Bahnschrift" panose="020B0502040204020203" pitchFamily="34" charset="0"/>
                <a:cs typeface="Arial" panose="020B0604020202020204" pitchFamily="34" charset="0"/>
              </a:rPr>
              <a:t>Используемые технологии</a:t>
            </a:r>
            <a:endParaRPr lang="ru-R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D259D3-8B51-4F20-8911-3C9902EDD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76" y="4073131"/>
            <a:ext cx="2333625" cy="233362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D0FF0EB-ACFF-47B7-920F-EEFCD7973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262" y="3872031"/>
            <a:ext cx="3283628" cy="156820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09391BA-FC6E-493F-9C46-38B68B3D8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397" y="1417764"/>
            <a:ext cx="2333625" cy="233362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57739CE-02AA-49E2-9048-7F526B819B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1399" y="4059951"/>
            <a:ext cx="2333625" cy="23336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F6DBB4-128F-4E8D-B8EA-3F67E8889F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3870" y="1430943"/>
            <a:ext cx="2339734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15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22EBBD-BA84-D304-F6E5-B7F5C94D1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17600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ahnschrift" panose="020B0502040204020203" pitchFamily="34" charset="0"/>
                <a:cs typeface="Arial" panose="020B0604020202020204" pitchFamily="34" charset="0"/>
              </a:rPr>
              <a:t>Аналоги</a:t>
            </a:r>
            <a:endParaRPr lang="ru-BY" sz="3600" b="1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2" descr="Сформированное изображение">
            <a:extLst>
              <a:ext uri="{FF2B5EF4-FFF2-40B4-BE49-F238E27FC236}">
                <a16:creationId xmlns:a16="http://schemas.microsoft.com/office/drawing/2014/main" id="{367AC803-A6DB-431F-A060-4C0715B7B8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468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6B492A9-F701-4FD9-8702-016CBB198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000" y="3689534"/>
            <a:ext cx="2160000" cy="2160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1A8CF31-2CCF-41BF-82C1-1B73C7439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83" y="4332875"/>
            <a:ext cx="2160000" cy="216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1119333-5465-4AC8-A724-C85552C00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617" y="1690688"/>
            <a:ext cx="2160000" cy="216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4C7335B-55D2-490A-996A-8262AA87A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3783" y="1690688"/>
            <a:ext cx="2160000" cy="2160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7155169-3799-4489-8D90-BE80B44B6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125" y="4332875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01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D9F31-61E8-F787-9950-A29C6A2A1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65" y="0"/>
            <a:ext cx="11026587" cy="990600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ahnschrift" panose="020B0502040204020203" pitchFamily="34" charset="0"/>
                <a:cs typeface="Arial" panose="020B0604020202020204" pitchFamily="34" charset="0"/>
              </a:rPr>
              <a:t>Использование системы контроля версий </a:t>
            </a:r>
            <a:r>
              <a:rPr lang="ru-RU" sz="3600" b="1" dirty="0" err="1">
                <a:latin typeface="Bahnschrift" panose="020B0502040204020203" pitchFamily="34" charset="0"/>
                <a:cs typeface="Arial" panose="020B0604020202020204" pitchFamily="34" charset="0"/>
              </a:rPr>
              <a:t>GitHub</a:t>
            </a:r>
            <a:endParaRPr lang="x-none" sz="3600" b="1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KardiaMobile®(Single-Lead) - Alivecor ECG">
            <a:extLst>
              <a:ext uri="{FF2B5EF4-FFF2-40B4-BE49-F238E27FC236}">
                <a16:creationId xmlns:a16="http://schemas.microsoft.com/office/drawing/2014/main" id="{93428195-B8C1-4617-905F-AA316FCA19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EB2099-8316-4D63-B178-A37CC5EC3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67" y="969181"/>
            <a:ext cx="3728510" cy="17887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4FC4BC9-3A1F-4581-AA43-2B45059AC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90600"/>
            <a:ext cx="3124200" cy="214643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55EC889-0161-4BE9-AB5F-5010A9337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8545" y="990601"/>
            <a:ext cx="2146991" cy="211396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62A65F6-072E-4514-8F6D-D17ECACF9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858" y="3092504"/>
            <a:ext cx="2696687" cy="262076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A8F4F97-48FB-4BE3-9AD0-C2C317463C7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2362"/>
          <a:stretch/>
        </p:blipFill>
        <p:spPr>
          <a:xfrm>
            <a:off x="8828545" y="3100797"/>
            <a:ext cx="2604630" cy="260535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B88F8DF-82FB-4F65-BB43-2CE72FC448A2}"/>
              </a:ext>
            </a:extLst>
          </p:cNvPr>
          <p:cNvSpPr txBox="1"/>
          <p:nvPr/>
        </p:nvSpPr>
        <p:spPr>
          <a:xfrm>
            <a:off x="5999747" y="5732271"/>
            <a:ext cx="56454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ahnschrift" panose="020B0502040204020203" pitchFamily="34" charset="0"/>
              </a:rPr>
              <a:t>В ходе разработки было выполнено </a:t>
            </a:r>
            <a:r>
              <a:rPr lang="en-US" dirty="0">
                <a:latin typeface="Bahnschrift" panose="020B0502040204020203" pitchFamily="34" charset="0"/>
              </a:rPr>
              <a:t>107</a:t>
            </a:r>
            <a:r>
              <a:rPr lang="ru-RU" dirty="0">
                <a:latin typeface="Bahnschrift" panose="020B0502040204020203" pitchFamily="34" charset="0"/>
              </a:rPr>
              <a:t> коммитов</a:t>
            </a:r>
            <a:endParaRPr lang="ru-RU" sz="1600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7C2ED2D-7BFC-446A-9D76-05CFA869FD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5132" y="6127720"/>
            <a:ext cx="1266825" cy="4476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E52471A-5884-4143-B7B4-6521D4D50C36}"/>
              </a:ext>
            </a:extLst>
          </p:cNvPr>
          <p:cNvSpPr txBox="1"/>
          <p:nvPr/>
        </p:nvSpPr>
        <p:spPr>
          <a:xfrm>
            <a:off x="116380" y="6199728"/>
            <a:ext cx="633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ahnschrift" panose="020B0502040204020203" pitchFamily="34" charset="0"/>
              </a:rPr>
              <a:t>Пользовательская и техническая документация проекта</a:t>
            </a:r>
            <a:endParaRPr lang="ru-RU" sz="1600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40839-2556-4F92-9B1C-F06911515ED2}"/>
              </a:ext>
            </a:extLst>
          </p:cNvPr>
          <p:cNvSpPr txBox="1"/>
          <p:nvPr/>
        </p:nvSpPr>
        <p:spPr>
          <a:xfrm>
            <a:off x="618565" y="2735228"/>
            <a:ext cx="5055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ahnschrift" panose="020B0502040204020203" pitchFamily="34" charset="0"/>
              </a:rPr>
              <a:t>Организация исходного кода в репозитории</a:t>
            </a:r>
            <a:endParaRPr lang="ru-RU" sz="1600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F9A88875-ED08-43D9-818B-9D12241CA8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63" y="3236713"/>
            <a:ext cx="3830314" cy="296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D9F31-61E8-F787-9950-A29C6A2A1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65" y="0"/>
            <a:ext cx="11026587" cy="990600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ahnschrift" panose="020B0502040204020203" pitchFamily="34" charset="0"/>
                <a:cs typeface="Arial" panose="020B0604020202020204" pitchFamily="34" charset="0"/>
              </a:rPr>
              <a:t>Главною меню и меню улучшений</a:t>
            </a:r>
            <a:endParaRPr lang="x-none" sz="3600" b="1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KardiaMobile®(Single-Lead) - Alivecor ECG">
            <a:extLst>
              <a:ext uri="{FF2B5EF4-FFF2-40B4-BE49-F238E27FC236}">
                <a16:creationId xmlns:a16="http://schemas.microsoft.com/office/drawing/2014/main" id="{93428195-B8C1-4617-905F-AA316FCA19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812A26-73FE-44E4-9314-805419A46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26" y="1148995"/>
            <a:ext cx="7228430" cy="394551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55E2BF0-E1AE-4AE0-ACEA-52209BA42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856" y="3092388"/>
            <a:ext cx="6473371" cy="353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9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34E984F9-2938-6D8D-541C-EB45B5BF4B3A}"/>
              </a:ext>
            </a:extLst>
          </p:cNvPr>
          <p:cNvSpPr txBox="1">
            <a:spLocks/>
          </p:cNvSpPr>
          <p:nvPr/>
        </p:nvSpPr>
        <p:spPr>
          <a:xfrm>
            <a:off x="449943" y="0"/>
            <a:ext cx="11495314" cy="1054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Bahnschrift" panose="020B0502040204020203" pitchFamily="34" charset="0"/>
                <a:cs typeface="Arial" panose="020B0604020202020204" pitchFamily="34" charset="0"/>
              </a:rPr>
              <a:t>Игровой процесс и адаптивное поведение врагов</a:t>
            </a:r>
            <a:endParaRPr lang="ru-BY" sz="3600" b="1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174F2D6-39C1-4C04-AC9D-D4FA31AE4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3" y="2158788"/>
            <a:ext cx="6140021" cy="333425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1B60FAE-8BB1-4AFB-B803-02EFE972A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055" y="1064850"/>
            <a:ext cx="4680001" cy="25545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6FBE537-9224-4AD2-B05B-28B08316B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952" y="3825914"/>
            <a:ext cx="4686103" cy="25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51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52A50-B05A-D467-4D3D-2FE493F0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30" y="0"/>
            <a:ext cx="11255759" cy="1038910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ahnschrift" panose="020B0502040204020203" pitchFamily="34" charset="0"/>
                <a:cs typeface="Arial" panose="020B0604020202020204" pitchFamily="34" charset="0"/>
              </a:rPr>
              <a:t>Хранение информации в базе данных</a:t>
            </a:r>
            <a:endParaRPr lang="ru-BY" sz="3600" b="1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00B3FB-BA9C-4BAD-8479-9FADE34A0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79" y="2495551"/>
            <a:ext cx="5423009" cy="8066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C72560-FBFD-44B6-BEC1-65F515106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132" y="1362075"/>
            <a:ext cx="3331668" cy="34956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1AB82E-77F2-429C-A3D7-88BADFBCABC8}"/>
              </a:ext>
            </a:extLst>
          </p:cNvPr>
          <p:cNvSpPr txBox="1"/>
          <p:nvPr/>
        </p:nvSpPr>
        <p:spPr>
          <a:xfrm>
            <a:off x="1668095" y="3555824"/>
            <a:ext cx="3838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Bahnschrift" panose="020B0502040204020203" pitchFamily="34" charset="0"/>
                <a:cs typeface="Arial" panose="020B0604020202020204" pitchFamily="34" charset="0"/>
              </a:rPr>
              <a:t>Таблица хранящая информацию об улучшениях и алмазах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FBB3D0-80C4-448F-8B65-276B444692B4}"/>
              </a:ext>
            </a:extLst>
          </p:cNvPr>
          <p:cNvSpPr txBox="1"/>
          <p:nvPr/>
        </p:nvSpPr>
        <p:spPr>
          <a:xfrm>
            <a:off x="7349578" y="5180914"/>
            <a:ext cx="39147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Bahnschrift" panose="020B0502040204020203" pitchFamily="34" charset="0"/>
                <a:cs typeface="Arial" panose="020B0604020202020204" pitchFamily="34" charset="0"/>
              </a:rPr>
              <a:t>Таблица хранящая информацию</a:t>
            </a:r>
          </a:p>
          <a:p>
            <a:r>
              <a:rPr lang="ru-RU" sz="1800" dirty="0">
                <a:latin typeface="Bahnschrift" panose="020B0502040204020203" pitchFamily="34" charset="0"/>
                <a:cs typeface="Arial" panose="020B0604020202020204" pitchFamily="34" charset="0"/>
              </a:rPr>
              <a:t>о состоянии завершенных забегов</a:t>
            </a:r>
          </a:p>
        </p:txBody>
      </p:sp>
    </p:spTree>
    <p:extLst>
      <p:ext uri="{BB962C8B-B14F-4D97-AF65-F5344CB8AC3E}">
        <p14:creationId xmlns:p14="http://schemas.microsoft.com/office/powerpoint/2010/main" val="3453023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318248-C48B-F5C3-C357-57C521973BE3}"/>
              </a:ext>
            </a:extLst>
          </p:cNvPr>
          <p:cNvSpPr txBox="1">
            <a:spLocks/>
          </p:cNvSpPr>
          <p:nvPr/>
        </p:nvSpPr>
        <p:spPr>
          <a:xfrm>
            <a:off x="838200" y="179620"/>
            <a:ext cx="10515600" cy="6585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Bahnschrift" panose="020B0502040204020203" pitchFamily="34" charset="0"/>
                <a:cs typeface="Arial" panose="020B0604020202020204" pitchFamily="34" charset="0"/>
              </a:rPr>
              <a:t>Экраны победы и поражения</a:t>
            </a:r>
            <a:endParaRPr lang="ru-BY" sz="3600" b="1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3AEFFD1-1979-4BDA-9B91-323AC08B8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27" y="1101027"/>
            <a:ext cx="5631584" cy="306402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1D4E5C5-179A-4451-8AC6-0A7B6F694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921" y="3429000"/>
            <a:ext cx="5972252" cy="324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88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984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FE78D5-4F3E-7BEB-D534-BF05F427F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03300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Bahnschrift" panose="020B0502040204020203" pitchFamily="34" charset="0"/>
                <a:cs typeface="Arial" panose="020B0604020202020204" pitchFamily="34" charset="0"/>
              </a:rPr>
              <a:t>Выводы</a:t>
            </a:r>
            <a:endParaRPr lang="ru-BY" sz="3600" b="1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A4FD83-401D-4CE6-847C-BA46D60B381B}"/>
              </a:ext>
            </a:extLst>
          </p:cNvPr>
          <p:cNvSpPr/>
          <p:nvPr/>
        </p:nvSpPr>
        <p:spPr>
          <a:xfrm>
            <a:off x="589972" y="905154"/>
            <a:ext cx="111067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1600" b="0" i="0" dirty="0">
                <a:effectLst/>
                <a:latin typeface="Bahnschrift" panose="020B0502040204020203" pitchFamily="34" charset="0"/>
              </a:rPr>
              <a:t>Разработанное программное средство представляет собой двумерную игровую систему в жанре </a:t>
            </a:r>
            <a:r>
              <a:rPr lang="ru-RU" sz="1600" b="0" i="0" dirty="0" err="1">
                <a:effectLst/>
                <a:latin typeface="Bahnschrift" panose="020B0502040204020203" pitchFamily="34" charset="0"/>
              </a:rPr>
              <a:t>ActionRPG</a:t>
            </a:r>
            <a:endParaRPr lang="ru-RU" sz="1600" b="0" i="0" dirty="0">
              <a:effectLst/>
              <a:latin typeface="Bahnschrift" panose="020B0502040204020203" pitchFamily="34" charset="0"/>
            </a:endParaRPr>
          </a:p>
          <a:p>
            <a:pPr marL="0" indent="0" algn="ctr">
              <a:buNone/>
            </a:pPr>
            <a:r>
              <a:rPr lang="ru-RU" sz="1600" b="0" i="0" dirty="0">
                <a:effectLst/>
                <a:latin typeface="Bahnschrift" panose="020B0502040204020203" pitchFamily="34" charset="0"/>
              </a:rPr>
              <a:t>с программным модулем адаптивного поведения противников. </a:t>
            </a:r>
          </a:p>
          <a:p>
            <a:pPr marL="0" indent="0" algn="ctr">
              <a:buNone/>
            </a:pPr>
            <a:r>
              <a:rPr lang="ru-RU" sz="1600" b="0" i="0" dirty="0">
                <a:effectLst/>
                <a:latin typeface="Bahnschrift" panose="020B0502040204020203" pitchFamily="34" charset="0"/>
              </a:rPr>
              <a:t>Процедурная генерация подземелья, боевая система, модификаторы забега и </a:t>
            </a:r>
            <a:r>
              <a:rPr lang="ru-RU" sz="1600" b="0" i="0" dirty="0" err="1">
                <a:effectLst/>
                <a:latin typeface="Bahnschrift" panose="020B0502040204020203" pitchFamily="34" charset="0"/>
              </a:rPr>
              <a:t>метапрогрессия</a:t>
            </a:r>
            <a:r>
              <a:rPr lang="ru-RU" sz="1600" b="0" i="0" dirty="0">
                <a:effectLst/>
                <a:latin typeface="Bahnschrift" panose="020B0502040204020203" pitchFamily="34" charset="0"/>
              </a:rPr>
              <a:t> с сохранением</a:t>
            </a:r>
          </a:p>
          <a:p>
            <a:pPr marL="0" indent="0" algn="ctr">
              <a:buNone/>
            </a:pPr>
            <a:r>
              <a:rPr lang="ru-RU" sz="1600" b="0" i="0" dirty="0">
                <a:effectLst/>
                <a:latin typeface="Bahnschrift" panose="020B0502040204020203" pitchFamily="34" charset="0"/>
              </a:rPr>
              <a:t>в базе данных обеспечивают проверку работы модуля в условиях полного игрового цикла.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8BCFBC2-0838-44B8-A616-F50ABF3CC58F}"/>
              </a:ext>
            </a:extLst>
          </p:cNvPr>
          <p:cNvSpPr/>
          <p:nvPr/>
        </p:nvSpPr>
        <p:spPr>
          <a:xfrm>
            <a:off x="589972" y="2312240"/>
            <a:ext cx="110120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000" b="0" i="0" dirty="0">
                <a:effectLst/>
                <a:latin typeface="Bahnschrift" panose="020B0502040204020203" pitchFamily="34" charset="0"/>
              </a:rPr>
              <a:t>Преимущества: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89A7697-0FCF-4083-BAEE-35FC85FBEB36}"/>
              </a:ext>
            </a:extLst>
          </p:cNvPr>
          <p:cNvSpPr/>
          <p:nvPr/>
        </p:nvSpPr>
        <p:spPr>
          <a:xfrm>
            <a:off x="520122" y="2712350"/>
            <a:ext cx="111765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0" i="0" dirty="0">
                <a:effectLst/>
                <a:latin typeface="Bahnschrift" panose="020B0502040204020203" pitchFamily="34" charset="0"/>
              </a:rPr>
              <a:t>– </a:t>
            </a:r>
            <a:r>
              <a:rPr lang="ru-RU" sz="1600" b="0" i="0" dirty="0">
                <a:effectLst/>
                <a:latin typeface="Bahnschrift" panose="020B0502040204020203" pitchFamily="34" charset="0"/>
              </a:rPr>
              <a:t>трехслойная модель оценки угрозы с математически обоснованными формулами</a:t>
            </a:r>
            <a:r>
              <a:rPr lang="en-US" sz="1600" b="0" i="0" dirty="0">
                <a:effectLst/>
                <a:latin typeface="Bahnschrift" panose="020B0502040204020203" pitchFamily="34" charset="0"/>
              </a:rPr>
              <a:t>;</a:t>
            </a:r>
            <a:endParaRPr lang="ru-RU" sz="1600" b="0" i="0" dirty="0">
              <a:effectLst/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sz="1600" b="0" i="0" dirty="0">
                <a:effectLst/>
                <a:latin typeface="Bahnschrift" panose="020B0502040204020203" pitchFamily="34" charset="0"/>
              </a:rPr>
              <a:t>– </a:t>
            </a:r>
            <a:r>
              <a:rPr lang="ru-RU" sz="1600" b="0" i="0" dirty="0">
                <a:effectLst/>
                <a:latin typeface="Bahnschrift" panose="020B0502040204020203" pitchFamily="34" charset="0"/>
              </a:rPr>
              <a:t>динамическая коррекция весов факторов</a:t>
            </a:r>
            <a:r>
              <a:rPr lang="en-US" sz="1600" b="0" i="0" dirty="0">
                <a:effectLst/>
                <a:latin typeface="Bahnschrift" panose="020B0502040204020203" pitchFamily="34" charset="0"/>
              </a:rPr>
              <a:t>;</a:t>
            </a:r>
            <a:endParaRPr lang="ru-RU" sz="1600" b="0" i="0" dirty="0">
              <a:effectLst/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sz="1600" b="0" i="0" dirty="0">
                <a:effectLst/>
                <a:latin typeface="Bahnschrift" panose="020B0502040204020203" pitchFamily="34" charset="0"/>
              </a:rPr>
              <a:t>– </a:t>
            </a:r>
            <a:r>
              <a:rPr lang="ru-RU" sz="1600" b="0" i="0" dirty="0">
                <a:effectLst/>
                <a:latin typeface="Bahnschrift" panose="020B0502040204020203" pitchFamily="34" charset="0"/>
              </a:rPr>
              <a:t>распознавание тактик игрока через анализ N-грамм и противодействие им</a:t>
            </a:r>
            <a:r>
              <a:rPr lang="en-US" sz="1600" b="0" i="0" dirty="0">
                <a:effectLst/>
                <a:latin typeface="Bahnschrift" panose="020B0502040204020203" pitchFamily="34" charset="0"/>
              </a:rPr>
              <a:t>;</a:t>
            </a:r>
            <a:endParaRPr lang="ru-RU" sz="1600" b="0" i="0" dirty="0">
              <a:effectLst/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n-US" sz="1600" b="0" i="0" dirty="0">
                <a:effectLst/>
                <a:latin typeface="Bahnschrift" panose="020B0502040204020203" pitchFamily="34" charset="0"/>
              </a:rPr>
              <a:t>– </a:t>
            </a:r>
            <a:r>
              <a:rPr lang="ru-RU" sz="1600" b="0" i="0" dirty="0">
                <a:effectLst/>
                <a:latin typeface="Bahnschrift" panose="020B0502040204020203" pitchFamily="34" charset="0"/>
              </a:rPr>
              <a:t>компонентная архитектура модуля, отделенная от игровых объектов и переносимая между проектами</a:t>
            </a:r>
            <a:r>
              <a:rPr lang="en-US" sz="1600" b="0" i="0" dirty="0">
                <a:effectLst/>
                <a:latin typeface="Bahnschrift" panose="020B0502040204020203" pitchFamily="34" charset="0"/>
              </a:rPr>
              <a:t>.</a:t>
            </a:r>
            <a:endParaRPr lang="ru-RU" sz="1600" b="0" i="0" dirty="0">
              <a:effectLst/>
              <a:latin typeface="Bahnschrift" panose="020B0502040204020203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BF6FB0-7F8F-40BB-9F09-1587A50405A8}"/>
              </a:ext>
            </a:extLst>
          </p:cNvPr>
          <p:cNvSpPr/>
          <p:nvPr/>
        </p:nvSpPr>
        <p:spPr>
          <a:xfrm>
            <a:off x="589972" y="3967712"/>
            <a:ext cx="110120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000" dirty="0">
                <a:latin typeface="Bahnschrift" panose="020B0502040204020203" pitchFamily="34" charset="0"/>
              </a:rPr>
              <a:t>Возможные улучшения</a:t>
            </a:r>
            <a:r>
              <a:rPr lang="ru-RU" sz="2000" b="0" i="0" dirty="0">
                <a:effectLst/>
                <a:latin typeface="Bahnschrift" panose="020B0502040204020203" pitchFamily="34" charset="0"/>
              </a:rPr>
              <a:t>: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5DAFF8C-EE6D-4B50-9AAF-AD4D697D8318}"/>
              </a:ext>
            </a:extLst>
          </p:cNvPr>
          <p:cNvSpPr/>
          <p:nvPr/>
        </p:nvSpPr>
        <p:spPr>
          <a:xfrm>
            <a:off x="520122" y="4367822"/>
            <a:ext cx="1126547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600" b="0" i="0" dirty="0">
                <a:effectLst/>
                <a:latin typeface="Bahnschrift" panose="020B0502040204020203" pitchFamily="34" charset="0"/>
              </a:rPr>
              <a:t>–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расширение конечного автомата дополнительными состояниями (групповое поведение, координация союзников через общий контекст,</a:t>
            </a:r>
            <a:r>
              <a:rPr lang="ru-RU" sz="1600" b="0" i="0" dirty="0">
                <a:effectLst/>
                <a:latin typeface="Bahnschrift" panose="020B0502040204020203" pitchFamily="34" charset="0"/>
              </a:rPr>
              <a:t> нападающий, прикрывающий, обходящий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600" b="0" i="0" dirty="0">
                <a:effectLst/>
                <a:latin typeface="Bahnschrift" panose="020B0502040204020203" pitchFamily="34" charset="0"/>
              </a:rPr>
              <a:t>– </a:t>
            </a:r>
            <a:r>
              <a:rPr lang="ru-RU" sz="1600" dirty="0">
                <a:latin typeface="Bahnschrift" panose="020B0502040204020203" pitchFamily="34" charset="0"/>
              </a:rPr>
              <a:t>у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чет геометрии комнаты при выборе состояния: оценка укрытий, узких проходов и тупиков для принятия решения о направлении отступления и обхода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;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600" b="0" i="0" dirty="0">
                <a:effectLst/>
                <a:latin typeface="Bahnschrift" panose="020B0502040204020203" pitchFamily="34" charset="0"/>
              </a:rPr>
              <a:t>– </a:t>
            </a:r>
            <a:r>
              <a:rPr lang="ru-RU" sz="1600" dirty="0">
                <a:latin typeface="Bahnschrift" panose="020B0502040204020203" pitchFamily="34" charset="0"/>
              </a:rPr>
              <a:t>н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астройка значений весов факторов по итогам прошедших забегов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effectLst/>
                <a:latin typeface="Bahnschrift" panose="020B0502040204020203" pitchFamily="34" charset="0"/>
              </a:rPr>
              <a:t>;</a:t>
            </a:r>
            <a:br>
              <a:rPr lang="ru-RU" sz="1600" b="0" i="0" dirty="0">
                <a:effectLst/>
                <a:latin typeface="Bahnschrift" panose="020B0502040204020203" pitchFamily="34" charset="0"/>
              </a:rPr>
            </a:br>
            <a:r>
              <a:rPr lang="en-US" sz="1600" b="0" i="0" dirty="0">
                <a:effectLst/>
                <a:latin typeface="Bahnschrift" panose="020B0502040204020203" pitchFamily="34" charset="0"/>
              </a:rPr>
              <a:t>– </a:t>
            </a:r>
            <a:r>
              <a:rPr lang="ru-RU" sz="1600" b="0" i="0" dirty="0">
                <a:effectLst/>
                <a:latin typeface="Bahnschrift" panose="020B0502040204020203" pitchFamily="34" charset="0"/>
              </a:rPr>
              <a:t>многофазовые боссы</a:t>
            </a:r>
            <a:r>
              <a:rPr lang="ru-RU" sz="1600" dirty="0">
                <a:latin typeface="Bahnschrift" panose="020B0502040204020203" pitchFamily="34" charset="0"/>
              </a:rPr>
              <a:t>,</a:t>
            </a:r>
            <a:r>
              <a:rPr lang="ru-RU" sz="1600" b="0" i="0" dirty="0">
                <a:effectLst/>
                <a:latin typeface="Bahnschrift" panose="020B0502040204020203" pitchFamily="34" charset="0"/>
              </a:rPr>
              <a:t> каждая фаза боя задает набор весов факторов и меры противодействия тактикам игрока</a:t>
            </a:r>
            <a:r>
              <a:rPr lang="en-US" sz="1600" b="0" i="0" dirty="0">
                <a:effectLst/>
                <a:latin typeface="Bahnschrift" panose="020B0502040204020203" pitchFamily="34" charset="0"/>
              </a:rPr>
              <a:t>;</a:t>
            </a:r>
            <a:br>
              <a:rPr lang="en-US" sz="1600" b="0" i="0" dirty="0">
                <a:effectLst/>
                <a:latin typeface="Bahnschrift" panose="020B0502040204020203" pitchFamily="34" charset="0"/>
              </a:rPr>
            </a:br>
            <a:r>
              <a:rPr lang="ru-RU" sz="1600" b="0" i="0" dirty="0">
                <a:effectLst/>
                <a:latin typeface="Bahnschrift" panose="020B0502040204020203" pitchFamily="34" charset="0"/>
              </a:rPr>
              <a:t>– перенос разработанного модуля на дружественных персонажей-спутников игрока</a:t>
            </a:r>
            <a:r>
              <a:rPr lang="en-US" sz="1600" dirty="0">
                <a:latin typeface="Bahnschrift" panose="020B0502040204020203" pitchFamily="34" charset="0"/>
              </a:rPr>
              <a:t>.</a:t>
            </a:r>
            <a:endParaRPr lang="ru-RU" sz="1600" b="0" i="0" dirty="0"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3253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</TotalTime>
  <Words>357</Words>
  <Application>Microsoft Office PowerPoint</Application>
  <PresentationFormat>Широкоэкранный</PresentationFormat>
  <Paragraphs>40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Bahnschrift</vt:lpstr>
      <vt:lpstr>Arial</vt:lpstr>
      <vt:lpstr>Тема Office</vt:lpstr>
      <vt:lpstr>Программный модуль адаптивного поведения персонажей 2D-игры в жанре ActionRPG</vt:lpstr>
      <vt:lpstr>Цели и задачи</vt:lpstr>
      <vt:lpstr>Используемые технологии</vt:lpstr>
      <vt:lpstr>Аналоги</vt:lpstr>
      <vt:lpstr>Использование системы контроля версий GitHub</vt:lpstr>
      <vt:lpstr>Главною меню и меню улучшений</vt:lpstr>
      <vt:lpstr>Презентация PowerPoint</vt:lpstr>
      <vt:lpstr>Хранение информации в базе данных</vt:lpstr>
      <vt:lpstr>Презентация PowerPoint</vt:lpstr>
      <vt:lpstr>Презентация PowerPoint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Depthrun</dc:title>
  <dc:creator>Снитко Д.А.</dc:creator>
  <cp:lastModifiedBy>Luflexia ⠀</cp:lastModifiedBy>
  <cp:revision>128</cp:revision>
  <dcterms:created xsi:type="dcterms:W3CDTF">2023-04-14T07:13:18Z</dcterms:created>
  <dcterms:modified xsi:type="dcterms:W3CDTF">2026-07-02T11:22:23Z</dcterms:modified>
</cp:coreProperties>
</file>