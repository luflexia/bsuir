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al Bold" charset="1" panose="020B0802020202020204"/>
      <p:regular r:id="rId16"/>
    </p:embeddedFont>
    <p:embeddedFont>
      <p:font typeface="Arial" charset="1" panose="020B0502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69558" y="4337050"/>
            <a:ext cx="12748883" cy="146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ТЕЛЕГРАМ-БОТ С ПОДДЕРЖКОЙ ЯЗЫКА ГЛУХОНЕМЫХ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6823325"/>
            <a:ext cx="9447600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Студент:</a:t>
            </a: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Петруненко Владислав Евгеньевич, гр. 150501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7419119"/>
            <a:ext cx="12747677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Руководитель:</a:t>
            </a: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Куприянова Диана Вячеславовна, старший преподаватель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2243397"/>
            <a:ext cx="18288000" cy="0"/>
          </a:xfrm>
          <a:prstGeom prst="line">
            <a:avLst/>
          </a:prstGeom>
          <a:ln cap="flat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7446476" y="2248160"/>
            <a:ext cx="0" cy="8038840"/>
          </a:xfrm>
          <a:prstGeom prst="line">
            <a:avLst/>
          </a:prstGeom>
          <a:ln cap="flat" w="9525">
            <a:solidFill>
              <a:srgbClr val="59595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0" y="8079740"/>
            <a:ext cx="1999330" cy="2207260"/>
          </a:xfrm>
          <a:custGeom>
            <a:avLst/>
            <a:gdLst/>
            <a:ahLst/>
            <a:cxnLst/>
            <a:rect r="r" b="b" t="t" l="l"/>
            <a:pathLst>
              <a:path h="2207260" w="1999330">
                <a:moveTo>
                  <a:pt x="0" y="0"/>
                </a:moveTo>
                <a:lnTo>
                  <a:pt x="1999330" y="0"/>
                </a:lnTo>
                <a:lnTo>
                  <a:pt x="1999330" y="2207260"/>
                </a:lnTo>
                <a:lnTo>
                  <a:pt x="0" y="22072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92504" y="2497157"/>
            <a:ext cx="6483431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ЦЕЛЬ: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11514" y="2497157"/>
            <a:ext cx="955016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ЗАДАЧИ: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2504" y="3557131"/>
            <a:ext cx="5696284" cy="1797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Разработать Telegram-бот с поддержкой языка глухонемых, который обеспечит доступность коммуникации для людей с нарушениями слуха и речи путем анализа видеопотока и трансляции его в текст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611514" y="3557131"/>
            <a:ext cx="10518799" cy="4968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выбор нейросетевой модели для реализации алгоритма распознавания жестов в видеопотоке;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- подготовка набора данных для обучения модели;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- обучение нейросетевой модели на основе созданного набора данных;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- разработка телеграм-бота для взаимодействия с моделью;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- интеграция модели с ботом в мессенджере Telegram;</a:t>
            </a:r>
          </a:p>
          <a:p>
            <a:pPr algn="just">
              <a:lnSpc>
                <a:spcPts val="2800"/>
              </a:lnSpc>
            </a:p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- проверка качества работоспособности и распознавания жестов в видеопотоке и создание качественного пользовательского опыта.</a:t>
            </a:r>
          </a:p>
          <a:p>
            <a:pPr algn="just">
              <a:lnSpc>
                <a:spcPts val="280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92504" y="876300"/>
            <a:ext cx="6483431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1. ЦЕЛИ И ЗАДАЧИ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00097" y="5541901"/>
            <a:ext cx="3392881" cy="3380158"/>
          </a:xfrm>
          <a:custGeom>
            <a:avLst/>
            <a:gdLst/>
            <a:ahLst/>
            <a:cxnLst/>
            <a:rect r="r" b="b" t="t" l="l"/>
            <a:pathLst>
              <a:path h="3380158" w="3392881">
                <a:moveTo>
                  <a:pt x="0" y="0"/>
                </a:moveTo>
                <a:lnTo>
                  <a:pt x="3392881" y="0"/>
                </a:lnTo>
                <a:lnTo>
                  <a:pt x="3392881" y="3380157"/>
                </a:lnTo>
                <a:lnTo>
                  <a:pt x="0" y="33801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51998" y="5853777"/>
            <a:ext cx="3382985" cy="3382985"/>
          </a:xfrm>
          <a:custGeom>
            <a:avLst/>
            <a:gdLst/>
            <a:ahLst/>
            <a:cxnLst/>
            <a:rect r="r" b="b" t="t" l="l"/>
            <a:pathLst>
              <a:path h="3382985" w="3382985">
                <a:moveTo>
                  <a:pt x="0" y="0"/>
                </a:moveTo>
                <a:lnTo>
                  <a:pt x="3382985" y="0"/>
                </a:lnTo>
                <a:lnTo>
                  <a:pt x="3382985" y="3382985"/>
                </a:lnTo>
                <a:lnTo>
                  <a:pt x="0" y="3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992978" y="2470792"/>
            <a:ext cx="3382985" cy="3382985"/>
          </a:xfrm>
          <a:custGeom>
            <a:avLst/>
            <a:gdLst/>
            <a:ahLst/>
            <a:cxnLst/>
            <a:rect r="r" b="b" t="t" l="l"/>
            <a:pathLst>
              <a:path h="3382985" w="3382985">
                <a:moveTo>
                  <a:pt x="0" y="0"/>
                </a:moveTo>
                <a:lnTo>
                  <a:pt x="3382985" y="0"/>
                </a:lnTo>
                <a:lnTo>
                  <a:pt x="3382985" y="3382985"/>
                </a:lnTo>
                <a:lnTo>
                  <a:pt x="0" y="3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84162" y="2031899"/>
            <a:ext cx="2578168" cy="3298946"/>
          </a:xfrm>
          <a:custGeom>
            <a:avLst/>
            <a:gdLst/>
            <a:ahLst/>
            <a:cxnLst/>
            <a:rect r="r" b="b" t="t" l="l"/>
            <a:pathLst>
              <a:path h="3298946" w="2578168">
                <a:moveTo>
                  <a:pt x="0" y="0"/>
                </a:moveTo>
                <a:lnTo>
                  <a:pt x="2578167" y="0"/>
                </a:lnTo>
                <a:lnTo>
                  <a:pt x="2578167" y="3298946"/>
                </a:lnTo>
                <a:lnTo>
                  <a:pt x="0" y="32989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52507" y="2156088"/>
            <a:ext cx="3382985" cy="3382985"/>
          </a:xfrm>
          <a:custGeom>
            <a:avLst/>
            <a:gdLst/>
            <a:ahLst/>
            <a:cxnLst/>
            <a:rect r="r" b="b" t="t" l="l"/>
            <a:pathLst>
              <a:path h="3382985" w="3382985">
                <a:moveTo>
                  <a:pt x="0" y="0"/>
                </a:moveTo>
                <a:lnTo>
                  <a:pt x="3382986" y="0"/>
                </a:lnTo>
                <a:lnTo>
                  <a:pt x="3382986" y="3382985"/>
                </a:lnTo>
                <a:lnTo>
                  <a:pt x="0" y="33829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13107" y="574675"/>
            <a:ext cx="6483431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2. ТЕХНОЛОГИИ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20345"/>
            <a:ext cx="16230600" cy="7567517"/>
          </a:xfrm>
          <a:custGeom>
            <a:avLst/>
            <a:gdLst/>
            <a:ahLst/>
            <a:cxnLst/>
            <a:rect r="r" b="b" t="t" l="l"/>
            <a:pathLst>
              <a:path h="7567517" w="16230600">
                <a:moveTo>
                  <a:pt x="0" y="0"/>
                </a:moveTo>
                <a:lnTo>
                  <a:pt x="16230600" y="0"/>
                </a:lnTo>
                <a:lnTo>
                  <a:pt x="16230600" y="7567517"/>
                </a:lnTo>
                <a:lnTo>
                  <a:pt x="0" y="75675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549126"/>
            <a:ext cx="1336693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3. АРХИТЕКТУРА МОДЕЛИ И ПРОЦЕСС ОБУЧЕНИЯ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7398" y="1028700"/>
            <a:ext cx="10653204" cy="8229600"/>
          </a:xfrm>
          <a:custGeom>
            <a:avLst/>
            <a:gdLst/>
            <a:ahLst/>
            <a:cxnLst/>
            <a:rect r="r" b="b" t="t" l="l"/>
            <a:pathLst>
              <a:path h="8229600" w="10653204">
                <a:moveTo>
                  <a:pt x="0" y="0"/>
                </a:moveTo>
                <a:lnTo>
                  <a:pt x="10653204" y="0"/>
                </a:lnTo>
                <a:lnTo>
                  <a:pt x="1065320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14588" y="2073275"/>
            <a:ext cx="7103440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4. НАБОР ДАННЫХ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014588" y="3158372"/>
            <a:ext cx="6909534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Slovo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08494" y="4190247"/>
            <a:ext cx="6909534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один из крупнейших наборов данных русскоязычного жестового языка;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208494" y="5248275"/>
            <a:ext cx="6909534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более тысячи уникальных жестов с 20000+ видеозаписями - в различных условиях и от разных людей;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208494" y="6616700"/>
            <a:ext cx="6909534" cy="144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распространяется на бесплатной основе и служит базисом для абсолютного большинства проектов, связанными с распознаванием русскоязычного языка жестов.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014588" y="4190247"/>
            <a:ext cx="335754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014588" y="5248275"/>
            <a:ext cx="335754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014588" y="6616700"/>
            <a:ext cx="335754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5517258" cy="8229600"/>
          </a:xfrm>
          <a:custGeom>
            <a:avLst/>
            <a:gdLst/>
            <a:ahLst/>
            <a:cxnLst/>
            <a:rect r="r" b="b" t="t" l="l"/>
            <a:pathLst>
              <a:path h="8229600" w="15517258">
                <a:moveTo>
                  <a:pt x="0" y="0"/>
                </a:moveTo>
                <a:lnTo>
                  <a:pt x="15517258" y="0"/>
                </a:lnTo>
                <a:lnTo>
                  <a:pt x="1551725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816800"/>
            <a:ext cx="8115300" cy="7810976"/>
          </a:xfrm>
          <a:custGeom>
            <a:avLst/>
            <a:gdLst/>
            <a:ahLst/>
            <a:cxnLst/>
            <a:rect r="r" b="b" t="t" l="l"/>
            <a:pathLst>
              <a:path h="7810976" w="8115300">
                <a:moveTo>
                  <a:pt x="0" y="0"/>
                </a:moveTo>
                <a:lnTo>
                  <a:pt x="8115300" y="0"/>
                </a:lnTo>
                <a:lnTo>
                  <a:pt x="8115300" y="7810977"/>
                </a:lnTo>
                <a:lnTo>
                  <a:pt x="0" y="7810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87347" y="1816800"/>
            <a:ext cx="8104774" cy="7810976"/>
          </a:xfrm>
          <a:custGeom>
            <a:avLst/>
            <a:gdLst/>
            <a:ahLst/>
            <a:cxnLst/>
            <a:rect r="r" b="b" t="t" l="l"/>
            <a:pathLst>
              <a:path h="7810976" w="8104774">
                <a:moveTo>
                  <a:pt x="0" y="0"/>
                </a:moveTo>
                <a:lnTo>
                  <a:pt x="8104774" y="0"/>
                </a:lnTo>
                <a:lnTo>
                  <a:pt x="8104774" y="7810977"/>
                </a:lnTo>
                <a:lnTo>
                  <a:pt x="0" y="78109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876300"/>
            <a:ext cx="769439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5. ДЕМОНСТРАЦИЯ РАБОТЫ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96980" y="1028700"/>
            <a:ext cx="8754894" cy="8229600"/>
          </a:xfrm>
          <a:custGeom>
            <a:avLst/>
            <a:gdLst/>
            <a:ahLst/>
            <a:cxnLst/>
            <a:rect r="r" b="b" t="t" l="l"/>
            <a:pathLst>
              <a:path h="8229600" w="8754894">
                <a:moveTo>
                  <a:pt x="0" y="0"/>
                </a:moveTo>
                <a:lnTo>
                  <a:pt x="8754893" y="0"/>
                </a:lnTo>
                <a:lnTo>
                  <a:pt x="875489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30470" y="1028700"/>
            <a:ext cx="8539144" cy="8229600"/>
          </a:xfrm>
          <a:custGeom>
            <a:avLst/>
            <a:gdLst/>
            <a:ahLst/>
            <a:cxnLst/>
            <a:rect r="r" b="b" t="t" l="l"/>
            <a:pathLst>
              <a:path h="8229600" w="8539144">
                <a:moveTo>
                  <a:pt x="0" y="0"/>
                </a:moveTo>
                <a:lnTo>
                  <a:pt x="8539144" y="0"/>
                </a:lnTo>
                <a:lnTo>
                  <a:pt x="85391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9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33756" y="876300"/>
            <a:ext cx="9620489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6. ВЫВОДЫ И РЕЗУЛЬТАТЫ РАБОТЫ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277002"/>
            <a:ext cx="9045056" cy="612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en-US" b="true" sz="2000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Основными результатами работы являются: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1. Подготовка, разметка и нормализация набора данных для последующего обучения нейронной сети для распознавания языка жестов в видеопотоке.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2. Обученная и стабильно работающая модель нейронной сети гибридной архитектуры CNN-LSTM запущена в эксплуатацию в рамках интерфейса посредством Telegram.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3. Создан и интегрирован в Telegram телеграм-бот, предоставляющий простой доступ к нейронной сети и нацеленный на создание положительного пользовательского опыта.</a:t>
            </a:r>
          </a:p>
          <a:p>
            <a:pPr algn="just">
              <a:lnSpc>
                <a:spcPts val="3000"/>
              </a:lnSpc>
            </a:pPr>
          </a:p>
          <a:p>
            <a:pPr algn="just">
              <a:lnSpc>
                <a:spcPts val="3000"/>
              </a:lnSpc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4. Экономическое обоснование демонстрирует рентабельность проекта и его конкурентоспособность на современном рынке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99287" y="2296052"/>
            <a:ext cx="5319771" cy="285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424242"/>
                </a:solidFill>
                <a:latin typeface="Arial Bold"/>
                <a:ea typeface="Arial Bold"/>
                <a:cs typeface="Arial Bold"/>
                <a:sym typeface="Arial Bold"/>
              </a:rPr>
              <a:t>Точки роста проекта: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расширение языковой базы и поддержка мультиязычности проекта;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24242"/>
                </a:solidFill>
                <a:latin typeface="Arial"/>
                <a:ea typeface="Arial"/>
                <a:cs typeface="Arial"/>
                <a:sym typeface="Arial"/>
              </a:rPr>
              <a:t>- развитие модели и поддержка более длинных серий жестов и более продолжительных видеофайлов.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DAGn5qfjnCU</dc:identifier>
  <dcterms:modified xsi:type="dcterms:W3CDTF">2011-08-01T06:04:30Z</dcterms:modified>
  <cp:revision>1</cp:revision>
  <dc:title>Grey Minimalist Construction &amp; Architecture Presentation</dc:title>
</cp:coreProperties>
</file>