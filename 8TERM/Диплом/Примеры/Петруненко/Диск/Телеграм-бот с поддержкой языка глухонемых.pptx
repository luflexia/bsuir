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vHqRKmDCNl5GKAzNOWYZ5nM6P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769558" y="4337050"/>
            <a:ext cx="12748883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ТЕЛЕГРАМ-БОТ С ПОДДЕРЖКОЙ ЯЗЫКА ГЛУХОНЕМЫХ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028700" y="6823325"/>
            <a:ext cx="94476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Студент:</a:t>
            </a: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Петруненко Владислав Евгеньевич, гр. 150501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28700" y="7419119"/>
            <a:ext cx="12747677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Руководитель:</a:t>
            </a: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Куприянова Диана Вячеславовна, старший преподаватель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573504" y="2497157"/>
            <a:ext cx="648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ЦЕЛЬ: 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7611514" y="2497157"/>
            <a:ext cx="9550169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ЗАДАЧИ: 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573504" y="3557131"/>
            <a:ext cx="5696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Разработать Telegram-бот с поддержкой языка глухонемых, который обеспечит доступность коммуникации для людей с нарушениями слуха и речи путем анализа видеопотока и трансляции его в текст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611514" y="3557131"/>
            <a:ext cx="105189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выбор нейросетевой модели для реализации алгоритма распознавания жестов в видеопотоке;</a:t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подготовка набора данных для обучения модели;</a:t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обучение нейросетевой модели на основе созданного набора данных;</a:t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разработка телеграм-бота для взаимодействия с моделью;</a:t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интеграция модели с ботом в мессенджере Telegram</a:t>
            </a: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проверка качества работоспособности и распознавания жестов в видеопотоке и создание качественного пользовательского опыта.</a:t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3504" y="876300"/>
            <a:ext cx="648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1. ЦЕЛИ И ЗАДАЧИ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10600097" y="5541901"/>
            <a:ext cx="3392881" cy="3380158"/>
          </a:xfrm>
          <a:custGeom>
            <a:rect b="b" l="l" r="r" t="t"/>
            <a:pathLst>
              <a:path extrusionOk="0" h="3380158" w="3392881">
                <a:moveTo>
                  <a:pt x="0" y="0"/>
                </a:moveTo>
                <a:lnTo>
                  <a:pt x="3392881" y="0"/>
                </a:lnTo>
                <a:lnTo>
                  <a:pt x="3392881" y="3380157"/>
                </a:lnTo>
                <a:lnTo>
                  <a:pt x="0" y="3380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3"/>
          <p:cNvSpPr/>
          <p:nvPr/>
        </p:nvSpPr>
        <p:spPr>
          <a:xfrm>
            <a:off x="4251998" y="5853777"/>
            <a:ext cx="3382985" cy="3382985"/>
          </a:xfrm>
          <a:custGeom>
            <a:rect b="b" l="l" r="r" t="t"/>
            <a:pathLst>
              <a:path extrusionOk="0" h="3382985" w="3382985">
                <a:moveTo>
                  <a:pt x="0" y="0"/>
                </a:moveTo>
                <a:lnTo>
                  <a:pt x="3382985" y="0"/>
                </a:lnTo>
                <a:lnTo>
                  <a:pt x="3382985" y="3382985"/>
                </a:lnTo>
                <a:lnTo>
                  <a:pt x="0" y="338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13992978" y="2470792"/>
            <a:ext cx="3382985" cy="3382985"/>
          </a:xfrm>
          <a:custGeom>
            <a:rect b="b" l="l" r="r" t="t"/>
            <a:pathLst>
              <a:path extrusionOk="0" h="3382985" w="3382985">
                <a:moveTo>
                  <a:pt x="0" y="0"/>
                </a:moveTo>
                <a:lnTo>
                  <a:pt x="3382985" y="0"/>
                </a:lnTo>
                <a:lnTo>
                  <a:pt x="3382985" y="3382985"/>
                </a:lnTo>
                <a:lnTo>
                  <a:pt x="0" y="338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1384162" y="2031899"/>
            <a:ext cx="2578168" cy="3298946"/>
          </a:xfrm>
          <a:custGeom>
            <a:rect b="b" l="l" r="r" t="t"/>
            <a:pathLst>
              <a:path extrusionOk="0" h="3298946" w="2578168">
                <a:moveTo>
                  <a:pt x="0" y="0"/>
                </a:moveTo>
                <a:lnTo>
                  <a:pt x="2578167" y="0"/>
                </a:lnTo>
                <a:lnTo>
                  <a:pt x="2578167" y="3298946"/>
                </a:lnTo>
                <a:lnTo>
                  <a:pt x="0" y="3298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7452507" y="2156088"/>
            <a:ext cx="3382985" cy="3382985"/>
          </a:xfrm>
          <a:custGeom>
            <a:rect b="b" l="l" r="r" t="t"/>
            <a:pathLst>
              <a:path extrusionOk="0" h="3382985" w="3382985">
                <a:moveTo>
                  <a:pt x="0" y="0"/>
                </a:moveTo>
                <a:lnTo>
                  <a:pt x="3382986" y="0"/>
                </a:lnTo>
                <a:lnTo>
                  <a:pt x="3382986" y="3382985"/>
                </a:lnTo>
                <a:lnTo>
                  <a:pt x="0" y="338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 txBox="1"/>
          <p:nvPr/>
        </p:nvSpPr>
        <p:spPr>
          <a:xfrm>
            <a:off x="5813107" y="574675"/>
            <a:ext cx="6483431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2. ТЕХНОЛОГИИ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1028700" y="2739342"/>
            <a:ext cx="16230600" cy="4808315"/>
          </a:xfrm>
          <a:custGeom>
            <a:rect b="b" l="l" r="r" t="t"/>
            <a:pathLst>
              <a:path extrusionOk="0" h="4808315" w="16230600">
                <a:moveTo>
                  <a:pt x="0" y="0"/>
                </a:moveTo>
                <a:lnTo>
                  <a:pt x="16230600" y="0"/>
                </a:lnTo>
                <a:lnTo>
                  <a:pt x="16230600" y="4808316"/>
                </a:lnTo>
                <a:lnTo>
                  <a:pt x="0" y="48083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4"/>
          <p:cNvSpPr txBox="1"/>
          <p:nvPr/>
        </p:nvSpPr>
        <p:spPr>
          <a:xfrm>
            <a:off x="1028700" y="549126"/>
            <a:ext cx="13366939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3. АРХИТЕКТУРА МОДЕЛИ И ПРОЦЕСС ОБУЧЕНИЯ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2664000" y="1028700"/>
            <a:ext cx="12960000" cy="8229600"/>
          </a:xfrm>
          <a:custGeom>
            <a:rect b="b" l="l" r="r" t="t"/>
            <a:pathLst>
              <a:path extrusionOk="0" h="8229600" w="12960000">
                <a:moveTo>
                  <a:pt x="0" y="0"/>
                </a:moveTo>
                <a:lnTo>
                  <a:pt x="12960000" y="0"/>
                </a:lnTo>
                <a:lnTo>
                  <a:pt x="12960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1028700" y="3916061"/>
            <a:ext cx="16230600" cy="2454878"/>
          </a:xfrm>
          <a:custGeom>
            <a:rect b="b" l="l" r="r" t="t"/>
            <a:pathLst>
              <a:path extrusionOk="0" h="2454878" w="16230600">
                <a:moveTo>
                  <a:pt x="0" y="0"/>
                </a:moveTo>
                <a:lnTo>
                  <a:pt x="16230600" y="0"/>
                </a:lnTo>
                <a:lnTo>
                  <a:pt x="16230600" y="2454878"/>
                </a:lnTo>
                <a:lnTo>
                  <a:pt x="0" y="2454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2528117" y="2551495"/>
            <a:ext cx="13231766" cy="5184009"/>
          </a:xfrm>
          <a:custGeom>
            <a:rect b="b" l="l" r="r" t="t"/>
            <a:pathLst>
              <a:path extrusionOk="0" h="5184009" w="13231766">
                <a:moveTo>
                  <a:pt x="0" y="0"/>
                </a:moveTo>
                <a:lnTo>
                  <a:pt x="13231766" y="0"/>
                </a:lnTo>
                <a:lnTo>
                  <a:pt x="13231766" y="5184010"/>
                </a:lnTo>
                <a:lnTo>
                  <a:pt x="0" y="5184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5014588" y="2073275"/>
            <a:ext cx="7103440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4. НАБОР ДАННЫХ</a:t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5014588" y="3158372"/>
            <a:ext cx="6909534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Slovo</a:t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5208494" y="4190247"/>
            <a:ext cx="6909534" cy="73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один из крупнейших наборов данных русскоязычного жестового языка;</a:t>
            </a:r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5208494" y="5248275"/>
            <a:ext cx="6909534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более тысячи уникальных жестов с 20000+ видеозаписями - в различных условиях и от разных людей;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5208494" y="6616700"/>
            <a:ext cx="6909534" cy="144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распространяется на бесплатной основе и служит базисом для абсолютного большинства проектов, связанными с распознаванием русскоязычного языка жестов.</a:t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5014588" y="4190247"/>
            <a:ext cx="335754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5014588" y="5248275"/>
            <a:ext cx="335754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5014588" y="6616700"/>
            <a:ext cx="335754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1028700" y="1028700"/>
            <a:ext cx="15517258" cy="8229600"/>
          </a:xfrm>
          <a:custGeom>
            <a:rect b="b" l="l" r="r" t="t"/>
            <a:pathLst>
              <a:path extrusionOk="0" h="8229600" w="15517258">
                <a:moveTo>
                  <a:pt x="0" y="0"/>
                </a:moveTo>
                <a:lnTo>
                  <a:pt x="15517258" y="0"/>
                </a:lnTo>
                <a:lnTo>
                  <a:pt x="155172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9367" y="0"/>
            <a:ext cx="4858633" cy="1083458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 txBox="1"/>
          <p:nvPr/>
        </p:nvSpPr>
        <p:spPr>
          <a:xfrm>
            <a:off x="1449601" y="876300"/>
            <a:ext cx="7694399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5. ДЕМОНСТРАЦИЯ РАБОТЫ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196980" y="1028700"/>
            <a:ext cx="8754894" cy="8229600"/>
          </a:xfrm>
          <a:custGeom>
            <a:rect b="b" l="l" r="r" t="t"/>
            <a:pathLst>
              <a:path extrusionOk="0" h="8229600" w="8754894">
                <a:moveTo>
                  <a:pt x="0" y="0"/>
                </a:moveTo>
                <a:lnTo>
                  <a:pt x="8754893" y="0"/>
                </a:lnTo>
                <a:lnTo>
                  <a:pt x="87548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1"/>
          <p:cNvSpPr/>
          <p:nvPr/>
        </p:nvSpPr>
        <p:spPr>
          <a:xfrm>
            <a:off x="9530470" y="1028700"/>
            <a:ext cx="8539144" cy="8229600"/>
          </a:xfrm>
          <a:custGeom>
            <a:rect b="b" l="l" r="r" t="t"/>
            <a:pathLst>
              <a:path extrusionOk="0" h="8229600" w="8539144">
                <a:moveTo>
                  <a:pt x="0" y="0"/>
                </a:moveTo>
                <a:lnTo>
                  <a:pt x="8539144" y="0"/>
                </a:lnTo>
                <a:lnTo>
                  <a:pt x="85391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/>
        </p:nvSpPr>
        <p:spPr>
          <a:xfrm>
            <a:off x="4333756" y="876300"/>
            <a:ext cx="9620489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6. ВЫВОДЫ И РЕЗУЛЬТАТЫ РАБОТЫ</a:t>
            </a:r>
            <a:endParaRPr/>
          </a:p>
        </p:txBody>
      </p:sp>
      <p:sp>
        <p:nvSpPr>
          <p:cNvPr id="161" name="Google Shape;161;p12"/>
          <p:cNvSpPr txBox="1"/>
          <p:nvPr/>
        </p:nvSpPr>
        <p:spPr>
          <a:xfrm>
            <a:off x="1028700" y="2277002"/>
            <a:ext cx="9045056" cy="612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Основными результатами работы являются: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1. Подготовка, разметка и нормализация набора данных для последующего обучения нейронной сети для распознавания языка жестов в видеопотоке.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2. Обученная и стабильно работающая модель нейронной сети гибридной архитектуры CNN-LSTM запущена в эксплуатацию в рамках интерфейса посредством Telegram.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3. Создан и интегрирован в Telegram телеграм-бот, предоставляющий простой доступ к нейронной сети и нацеленный на создание положительного пользовательского опыта.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4. Экономическое обоснование демонстрирует рентабельность проекта и его конкурентоспособность на современном рынке </a:t>
            </a:r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11599287" y="2296052"/>
            <a:ext cx="5319771" cy="285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Точки роста проекта: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расширение языковой базы и поддержка мультиязычности проекта;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развитие модели и поддержка более длинных серий жестов и более продолжительных видеофайлов.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/>
        </p:nvSpPr>
        <p:spPr>
          <a:xfrm>
            <a:off x="5976661" y="4689475"/>
            <a:ext cx="6334678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 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1028700" y="7195410"/>
            <a:ext cx="94476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Студент:</a:t>
            </a: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Петруненко Владислав Евгеньевич, гр. 150501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1028700" y="7791204"/>
            <a:ext cx="12747677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Руководитель:</a:t>
            </a:r>
            <a:r>
              <a:rPr b="0" i="0" lang="en-US" sz="20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Куприянова Диана Вячеславовна, старший преподаватель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