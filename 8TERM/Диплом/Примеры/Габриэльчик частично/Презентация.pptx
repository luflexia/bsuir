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sldIdLst>
    <p:sldId id="256" r:id="rId2"/>
    <p:sldId id="258" r:id="rId3"/>
    <p:sldId id="259" r:id="rId4"/>
    <p:sldId id="263" r:id="rId5"/>
    <p:sldId id="264" r:id="rId6"/>
    <p:sldId id="265" r:id="rId7"/>
    <p:sldId id="266" r:id="rId8"/>
    <p:sldId id="269" r:id="rId9"/>
    <p:sldId id="267" r:id="rId10"/>
    <p:sldId id="270" r:id="rId11"/>
    <p:sldId id="268" r:id="rId12"/>
    <p:sldId id="271" r:id="rId13"/>
    <p:sldId id="262" r:id="rId14"/>
    <p:sldId id="257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4227A-7AEA-4E29-86AA-D5C81355C2B6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C346-8892-422B-871B-DC9C5BDF0D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59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AC346-8892-422B-871B-DC9C5BDF0D0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6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881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6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905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87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0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24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0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98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9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08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43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57F651C-6112-48E3-9A31-1618F4BD684A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09A204E-8634-4C76-9418-B7D828B132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2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DC2937-0888-9208-412C-97F33F0F1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735" y="2001868"/>
            <a:ext cx="10708530" cy="2854264"/>
          </a:xfrm>
        </p:spPr>
        <p:txBody>
          <a:bodyPr>
            <a:no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средство для анализа процесса поставки программного обеспечения</a:t>
            </a:r>
            <a:endParaRPr lang="ru-RU" sz="540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12DD458-ED7C-CA15-68E5-08C6BA6204EF}"/>
              </a:ext>
            </a:extLst>
          </p:cNvPr>
          <p:cNvSpPr txBox="1">
            <a:spLocks/>
          </p:cNvSpPr>
          <p:nvPr/>
        </p:nvSpPr>
        <p:spPr>
          <a:xfrm>
            <a:off x="7909471" y="5519341"/>
            <a:ext cx="4070861" cy="9551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250501: Габриельчик П.В.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245E89EB-D553-027F-69C3-C4D507C6F5DA}"/>
              </a:ext>
            </a:extLst>
          </p:cNvPr>
          <p:cNvSpPr txBox="1">
            <a:spLocks/>
          </p:cNvSpPr>
          <p:nvPr/>
        </p:nvSpPr>
        <p:spPr>
          <a:xfrm>
            <a:off x="292980" y="5725350"/>
            <a:ext cx="4118152" cy="54310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Скиба И.Г.</a:t>
            </a:r>
          </a:p>
        </p:txBody>
      </p:sp>
    </p:spTree>
    <p:extLst>
      <p:ext uri="{BB962C8B-B14F-4D97-AF65-F5344CB8AC3E}">
        <p14:creationId xmlns:p14="http://schemas.microsoft.com/office/powerpoint/2010/main" val="336554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205B7-7562-7924-E471-57374C35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52BF4A-A297-2BA9-A39A-CF2BC69E0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830550"/>
            <a:ext cx="7729728" cy="21139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программное средство, обеспечивающее автоматизированный сбор, обработку и визуализацию ключевых DevOps-метрик на основе данных, получаемых через API системы GitLab.</a:t>
            </a:r>
          </a:p>
        </p:txBody>
      </p:sp>
    </p:spTree>
    <p:extLst>
      <p:ext uri="{BB962C8B-B14F-4D97-AF65-F5344CB8AC3E}">
        <p14:creationId xmlns:p14="http://schemas.microsoft.com/office/powerpoint/2010/main" val="246716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F8B2F-2C85-7016-58AB-08B9B746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BDDF2-20EB-2048-1881-CA3083D9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32093E-531C-5579-D7CB-3EA15995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25735"/>
            <a:ext cx="7729728" cy="4293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архитектуру веб-приложения;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модули интеграции с GitLab для получения данных о репозиториях, merge request и CI/CD-пайплайнах;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алгоритмы вычисления ключевых DevOps-метрик;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механизм визуализации метрик в виде графиков и аналитических отчетов;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провести тестирование и оценку корректности работы разработанного программного средства.</a:t>
            </a:r>
          </a:p>
        </p:txBody>
      </p:sp>
    </p:spTree>
    <p:extLst>
      <p:ext uri="{BB962C8B-B14F-4D97-AF65-F5344CB8AC3E}">
        <p14:creationId xmlns:p14="http://schemas.microsoft.com/office/powerpoint/2010/main" val="160466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F8E51-C44D-F85A-DA71-D487FFDA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2BEB8-9AC7-5B58-B705-383678FE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pic>
        <p:nvPicPr>
          <p:cNvPr id="1026" name="Picture 2" descr="Gitlab Logo and symbol, meaning, history, PNG, brand">
            <a:extLst>
              <a:ext uri="{FF2B5EF4-FFF2-40B4-BE49-F238E27FC236}">
                <a16:creationId xmlns:a16="http://schemas.microsoft.com/office/drawing/2014/main" id="{B1C8B706-CE77-9D7B-0392-D629F63A5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208" y="2360050"/>
            <a:ext cx="2039139" cy="114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9509D67-2CD3-50CC-A0ED-5553ECF6F54B}"/>
              </a:ext>
            </a:extLst>
          </p:cNvPr>
          <p:cNvSpPr txBox="1">
            <a:spLocks/>
          </p:cNvSpPr>
          <p:nvPr/>
        </p:nvSpPr>
        <p:spPr>
          <a:xfrm>
            <a:off x="1624271" y="3715404"/>
            <a:ext cx="1657012" cy="10752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182880" tIns="182880" rIns="182880" bIns="18288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сбора данных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5F16727-E9E6-D11F-AE34-737EABA969D7}"/>
              </a:ext>
            </a:extLst>
          </p:cNvPr>
          <p:cNvSpPr txBox="1">
            <a:spLocks/>
          </p:cNvSpPr>
          <p:nvPr/>
        </p:nvSpPr>
        <p:spPr>
          <a:xfrm>
            <a:off x="1119277" y="5349872"/>
            <a:ext cx="2667000" cy="10752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и нормализация</a:t>
            </a:r>
          </a:p>
        </p:txBody>
      </p:sp>
      <p:pic>
        <p:nvPicPr>
          <p:cNvPr id="1046" name="Picture 22" descr="PostgreSQL">
            <a:extLst>
              <a:ext uri="{FF2B5EF4-FFF2-40B4-BE49-F238E27FC236}">
                <a16:creationId xmlns:a16="http://schemas.microsoft.com/office/drawing/2014/main" id="{8A5DE054-9C93-2866-4388-4DBA272EA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629" y="5250330"/>
            <a:ext cx="1838446" cy="136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ClickHouse Essentials: A Beginner's Guide to ClickHouse's Architecture and  Performance | by Deepa J | Towards Dev">
            <a:extLst>
              <a:ext uri="{FF2B5EF4-FFF2-40B4-BE49-F238E27FC236}">
                <a16:creationId xmlns:a16="http://schemas.microsoft.com/office/drawing/2014/main" id="{20DF4B0F-6796-A33D-F731-BC37D4F22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97" y="4184079"/>
            <a:ext cx="2622196" cy="83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9BE3E5E-1F21-152F-0C55-1069FDDA774B}"/>
              </a:ext>
            </a:extLst>
          </p:cNvPr>
          <p:cNvSpPr txBox="1">
            <a:spLocks/>
          </p:cNvSpPr>
          <p:nvPr/>
        </p:nvSpPr>
        <p:spPr>
          <a:xfrm>
            <a:off x="4795714" y="2676376"/>
            <a:ext cx="2246275" cy="107526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вычисления метрик</a:t>
            </a:r>
          </a:p>
        </p:txBody>
      </p:sp>
      <p:pic>
        <p:nvPicPr>
          <p:cNvPr id="1056" name="Picture 32" descr="FastAPI: Everything you need to know about the most widely used Python web  framework for Machine Learning | by Yashnarbek Samiyev | Medium">
            <a:extLst>
              <a:ext uri="{FF2B5EF4-FFF2-40B4-BE49-F238E27FC236}">
                <a16:creationId xmlns:a16="http://schemas.microsoft.com/office/drawing/2014/main" id="{6E06DC49-7A50-63C2-6128-2D8BF43B6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646" y="2832680"/>
            <a:ext cx="2123254" cy="71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A6B645AF-15EC-84F2-FECC-0F00528D7346}"/>
              </a:ext>
            </a:extLst>
          </p:cNvPr>
          <p:cNvSpPr txBox="1">
            <a:spLocks/>
          </p:cNvSpPr>
          <p:nvPr/>
        </p:nvSpPr>
        <p:spPr>
          <a:xfrm>
            <a:off x="7859773" y="4267882"/>
            <a:ext cx="2667000" cy="71958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72A4241F-5927-474F-55B3-0EF5AECC6F52}"/>
              </a:ext>
            </a:extLst>
          </p:cNvPr>
          <p:cNvSpPr/>
          <p:nvPr/>
        </p:nvSpPr>
        <p:spPr>
          <a:xfrm>
            <a:off x="2354568" y="3195180"/>
            <a:ext cx="310710" cy="4812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958E30CB-769B-FC08-7B0F-E4E3C6AA83BF}"/>
              </a:ext>
            </a:extLst>
          </p:cNvPr>
          <p:cNvSpPr/>
          <p:nvPr/>
        </p:nvSpPr>
        <p:spPr>
          <a:xfrm>
            <a:off x="2354568" y="4855258"/>
            <a:ext cx="310710" cy="4812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2025B5C8-4779-BFDA-DC94-4A7E359FF0D0}"/>
              </a:ext>
            </a:extLst>
          </p:cNvPr>
          <p:cNvSpPr/>
          <p:nvPr/>
        </p:nvSpPr>
        <p:spPr>
          <a:xfrm rot="16200000">
            <a:off x="4384842" y="5229169"/>
            <a:ext cx="310710" cy="13166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C0527BA5-E6D7-8092-E715-4A3D0A29B020}"/>
              </a:ext>
            </a:extLst>
          </p:cNvPr>
          <p:cNvSpPr/>
          <p:nvPr/>
        </p:nvSpPr>
        <p:spPr>
          <a:xfrm rot="10800000">
            <a:off x="5789551" y="4811933"/>
            <a:ext cx="310710" cy="567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65E34477-FDCD-DF9E-4825-2DB477A4D02C}"/>
              </a:ext>
            </a:extLst>
          </p:cNvPr>
          <p:cNvSpPr/>
          <p:nvPr/>
        </p:nvSpPr>
        <p:spPr>
          <a:xfrm rot="10800000">
            <a:off x="5773922" y="3824355"/>
            <a:ext cx="310710" cy="567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2282F681-D752-5ECC-3228-8F07A7CD9F62}"/>
              </a:ext>
            </a:extLst>
          </p:cNvPr>
          <p:cNvSpPr/>
          <p:nvPr/>
        </p:nvSpPr>
        <p:spPr>
          <a:xfrm rot="16200000">
            <a:off x="7460211" y="2739300"/>
            <a:ext cx="310710" cy="906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70" name="Picture 46" descr="Using the Keycloak Accounts Management API – Marcus Povey">
            <a:extLst>
              <a:ext uri="{FF2B5EF4-FFF2-40B4-BE49-F238E27FC236}">
                <a16:creationId xmlns:a16="http://schemas.microsoft.com/office/drawing/2014/main" id="{BFB4ABBE-5F66-6697-AE07-252573A99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90" y="5285486"/>
            <a:ext cx="1290137" cy="129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Стрелка: вниз 23">
            <a:extLst>
              <a:ext uri="{FF2B5EF4-FFF2-40B4-BE49-F238E27FC236}">
                <a16:creationId xmlns:a16="http://schemas.microsoft.com/office/drawing/2014/main" id="{1E9339EA-3D8D-134D-5F4A-36101D1544D7}"/>
              </a:ext>
            </a:extLst>
          </p:cNvPr>
          <p:cNvSpPr/>
          <p:nvPr/>
        </p:nvSpPr>
        <p:spPr>
          <a:xfrm>
            <a:off x="9017070" y="3631763"/>
            <a:ext cx="310710" cy="567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: вниз 24">
            <a:extLst>
              <a:ext uri="{FF2B5EF4-FFF2-40B4-BE49-F238E27FC236}">
                <a16:creationId xmlns:a16="http://schemas.microsoft.com/office/drawing/2014/main" id="{46F53A6B-E9D4-011C-6F9F-EF597D22018C}"/>
              </a:ext>
            </a:extLst>
          </p:cNvPr>
          <p:cNvSpPr/>
          <p:nvPr/>
        </p:nvSpPr>
        <p:spPr>
          <a:xfrm>
            <a:off x="9017070" y="5052556"/>
            <a:ext cx="310710" cy="567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82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F2322-1CA0-90D4-3CC4-D63041C2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F60AE-3E61-8B1A-637F-E1D2FB8D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DORA-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66ABE-5B84-D326-EBB2-55226773C801}"/>
              </a:ext>
            </a:extLst>
          </p:cNvPr>
          <p:cNvSpPr txBox="1"/>
          <p:nvPr/>
        </p:nvSpPr>
        <p:spPr>
          <a:xfrm>
            <a:off x="3962400" y="3048201"/>
            <a:ext cx="4267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Frequency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Lead Time for Changes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Mean Time To Recovery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Change Failure Rate</a:t>
            </a:r>
          </a:p>
        </p:txBody>
      </p:sp>
    </p:spTree>
    <p:extLst>
      <p:ext uri="{BB962C8B-B14F-4D97-AF65-F5344CB8AC3E}">
        <p14:creationId xmlns:p14="http://schemas.microsoft.com/office/powerpoint/2010/main" val="6884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413C9-4FD9-E5F6-09EF-8A625086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1933AC-168B-07A1-9798-02F4CD681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891C5-F924-68F1-C30B-9660246B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72CCB-3757-6F29-8053-92C0868D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7E0E5-2E13-B59F-066D-75FE530B3D23}"/>
              </a:ext>
            </a:extLst>
          </p:cNvPr>
          <p:cNvSpPr txBox="1"/>
          <p:nvPr/>
        </p:nvSpPr>
        <p:spPr>
          <a:xfrm>
            <a:off x="3395133" y="3096428"/>
            <a:ext cx="54017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Успешность пайплайнов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длительность пайплайнов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ожидания в очереди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Пайплайны в день</a:t>
            </a:r>
          </a:p>
          <a:p>
            <a:pPr algn="ctr"/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88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71237-EDC0-B457-0238-8C551C73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37F434-59D4-907F-5193-8DC0B960A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4F7C9-3971-89A8-0BB3-59F92539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A3ED7-733B-E284-E0EA-0828BA4D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разработки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8D4BA-C75C-2F80-D70C-80A721F0B0EE}"/>
              </a:ext>
            </a:extLst>
          </p:cNvPr>
          <p:cNvSpPr txBox="1"/>
          <p:nvPr/>
        </p:nvSpPr>
        <p:spPr>
          <a:xfrm>
            <a:off x="3890433" y="3081147"/>
            <a:ext cx="44111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коммитов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Lead Time Merge Request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разработчики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84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85713-5AB5-A3B8-8278-04ACB359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60F340-B834-4BF7-8583-73049B0D6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563C1-D837-F812-03DC-25D926A9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6E3D6-0450-5E88-FBA0-E18AB966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Стабильности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36EC8-D404-89D5-F143-40493B2348E5}"/>
              </a:ext>
            </a:extLst>
          </p:cNvPr>
          <p:cNvSpPr txBox="1"/>
          <p:nvPr/>
        </p:nvSpPr>
        <p:spPr>
          <a:xfrm>
            <a:off x="4246033" y="3115933"/>
            <a:ext cx="3699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Revert-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коммиты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Повторные запуски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Откат деплоя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7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871E2-B441-0224-D995-AA68825A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E9A03E-AA19-FB52-3603-52F0E4687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6544"/>
            <a:ext cx="12192000" cy="444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0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4E67D-295A-5AE6-B3D2-4A12A3D8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68BEC-915E-1C73-93DE-06641E12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Видеодемонстрация работы дипломного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46234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демонстрация программы">
            <a:hlinkClick r:id="" action="ppaction://media"/>
            <a:extLst>
              <a:ext uri="{FF2B5EF4-FFF2-40B4-BE49-F238E27FC236}">
                <a16:creationId xmlns:a16="http://schemas.microsoft.com/office/drawing/2014/main" id="{5E3C4C63-EAAB-2E6F-7379-8E138764B9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7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8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B0F91-7846-B518-62C3-B85A31EA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29AE1-E368-2B4D-1E53-9CAF149B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4F5960-A6A0-D5C9-C5A1-859A7C8C3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17268"/>
            <a:ext cx="7729728" cy="4293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разработанная система позволяет анализировать процессы поставки ПО;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использование аналитического хранилища повышает производительность обработки данных;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реализованные метрики позволяют оценивать эффективность DevOps-процессов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визуализация данных упрощает мониторинг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состояния CI/CD;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архитектура системы обеспечивает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 и расширяемость.</a:t>
            </a:r>
          </a:p>
        </p:txBody>
      </p:sp>
    </p:spTree>
    <p:extLst>
      <p:ext uri="{BB962C8B-B14F-4D97-AF65-F5344CB8AC3E}">
        <p14:creationId xmlns:p14="http://schemas.microsoft.com/office/powerpoint/2010/main" val="312720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B7A00-246C-CFB1-D30C-B340F7F7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27BC6-D138-6DC6-BEE3-2D10C95E7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2427B-3F99-5733-3DFA-A685E4A6D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28935"/>
            <a:ext cx="7729728" cy="2794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дополнительных VCS и CI/CD платформ;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реализация анализирования метрик с использованием ML;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расширение набора аналитических показателей;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добавление системы уведомлений и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алертов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многопроектной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аналитики.</a:t>
            </a:r>
          </a:p>
        </p:txBody>
      </p:sp>
    </p:spTree>
    <p:extLst>
      <p:ext uri="{BB962C8B-B14F-4D97-AF65-F5344CB8AC3E}">
        <p14:creationId xmlns:p14="http://schemas.microsoft.com/office/powerpoint/2010/main" val="403206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110</TotalTime>
  <Words>273</Words>
  <Application>Microsoft Office PowerPoint</Application>
  <PresentationFormat>Широкоэкранный</PresentationFormat>
  <Paragraphs>58</Paragraphs>
  <Slides>16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Gill Sans MT</vt:lpstr>
      <vt:lpstr>Times New Roman</vt:lpstr>
      <vt:lpstr>Посылка</vt:lpstr>
      <vt:lpstr>Презентация PowerPoint</vt:lpstr>
      <vt:lpstr>Цель</vt:lpstr>
      <vt:lpstr>Задачи</vt:lpstr>
      <vt:lpstr>Архитектура системы</vt:lpstr>
      <vt:lpstr>DORA-метрики</vt:lpstr>
      <vt:lpstr>Презентация PowerPoint</vt:lpstr>
      <vt:lpstr>CI/CD-метрики</vt:lpstr>
      <vt:lpstr>Презентация PowerPoint</vt:lpstr>
      <vt:lpstr>Метрики разработки</vt:lpstr>
      <vt:lpstr>Презентация PowerPoint</vt:lpstr>
      <vt:lpstr>Метрики Стабильности</vt:lpstr>
      <vt:lpstr>Презентация PowerPoint</vt:lpstr>
      <vt:lpstr>Видеодемонстрация работы дипломного проекта</vt:lpstr>
      <vt:lpstr>Презентация PowerPoint</vt:lpstr>
      <vt:lpstr>Выводы</vt:lpstr>
      <vt:lpstr>Перспективы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Габриельчик Павел</dc:creator>
  <cp:lastModifiedBy>Габриельчик Павел</cp:lastModifiedBy>
  <cp:revision>5</cp:revision>
  <dcterms:created xsi:type="dcterms:W3CDTF">2026-05-07T07:02:11Z</dcterms:created>
  <dcterms:modified xsi:type="dcterms:W3CDTF">2026-05-11T07:44:19Z</dcterms:modified>
</cp:coreProperties>
</file>