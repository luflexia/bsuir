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7" r:id="rId10"/>
    <p:sldId id="266" r:id="rId11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48CC"/>
    <a:srgbClr val="4350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94"/>
    <p:restoredTop sz="91394"/>
  </p:normalViewPr>
  <p:slideViewPr>
    <p:cSldViewPr snapToGrid="0">
      <p:cViewPr>
        <p:scale>
          <a:sx n="50" d="100"/>
          <a:sy n="50" d="100"/>
        </p:scale>
        <p:origin x="1267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8657488"/>
            <a:ext cx="11607801" cy="461060"/>
          </a:xfrm>
          <a:prstGeom prst="rect">
            <a:avLst/>
          </a:prstGeom>
        </p:spPr>
        <p:txBody>
          <a:bodyPr anchor="b"/>
          <a:lstStyle>
            <a:lvl1pPr marL="0" indent="0" defTabSz="587022">
              <a:lnSpc>
                <a:spcPct val="100000"/>
              </a:lnSpc>
              <a:buSzTx/>
              <a:buNone/>
              <a:defRPr b="1"/>
            </a:lvl1pPr>
          </a:lstStyle>
          <a:p>
            <a:r>
              <a:t>Автор и дата</a:t>
            </a:r>
          </a:p>
        </p:txBody>
      </p:sp>
      <p:sp>
        <p:nvSpPr>
          <p:cNvPr id="12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/>
          <a:p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buSzTx/>
              <a:buNone/>
              <a:defRPr b="1"/>
            </a:lvl1pPr>
            <a:lvl2pPr marL="0" indent="457200" defTabSz="587022">
              <a:lnSpc>
                <a:spcPct val="100000"/>
              </a:lnSpc>
              <a:buSzTx/>
              <a:buNone/>
              <a:defRPr b="1"/>
            </a:lvl2pPr>
            <a:lvl3pPr marL="0" indent="914400" defTabSz="587022">
              <a:lnSpc>
                <a:spcPct val="100000"/>
              </a:lnSpc>
              <a:buSzTx/>
              <a:buNone/>
              <a:defRPr b="1"/>
            </a:lvl3pPr>
            <a:lvl4pPr marL="0" indent="1371600" defTabSz="587022">
              <a:lnSpc>
                <a:spcPct val="100000"/>
              </a:lnSpc>
              <a:buSzTx/>
              <a:buNone/>
              <a:defRPr b="1"/>
            </a:lvl4pPr>
            <a:lvl5pPr marL="0" indent="1828800" defTabSz="587022">
              <a:lnSpc>
                <a:spcPct val="100000"/>
              </a:lnSpc>
              <a:buSzTx/>
              <a:buNone/>
              <a:defRPr b="1"/>
            </a:lvl5pPr>
          </a:lstStyle>
          <a:p>
            <a:r>
              <a:t>Подзаголовок презентации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>
            <a:spLocks noGrp="1"/>
          </p:cNvSpPr>
          <p:nvPr>
            <p:ph type="pic" idx="21"/>
          </p:nvPr>
        </p:nvSpPr>
        <p:spPr>
          <a:xfrm>
            <a:off x="-376767" y="-915894"/>
            <a:ext cx="17835652" cy="106821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/>
          <a:p>
            <a:r>
              <a:t>Заголовок презентации</a:t>
            </a:r>
          </a:p>
        </p:txBody>
      </p:sp>
      <p:sp>
        <p:nvSpPr>
          <p:cNvPr id="2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buSzTx/>
              <a:buNone/>
              <a:defRPr b="1"/>
            </a:lvl1pPr>
            <a:lvl2pPr marL="0" indent="457200" defTabSz="587022">
              <a:lnSpc>
                <a:spcPct val="100000"/>
              </a:lnSpc>
              <a:buSzTx/>
              <a:buNone/>
              <a:defRPr b="1"/>
            </a:lvl2pPr>
            <a:lvl3pPr marL="0" indent="914400" defTabSz="587022">
              <a:lnSpc>
                <a:spcPct val="100000"/>
              </a:lnSpc>
              <a:buSzTx/>
              <a:buNone/>
              <a:defRPr b="1"/>
            </a:lvl3pPr>
            <a:lvl4pPr marL="0" indent="1371600" defTabSz="587022">
              <a:lnSpc>
                <a:spcPct val="100000"/>
              </a:lnSpc>
              <a:buSzTx/>
              <a:buNone/>
              <a:defRPr b="1"/>
            </a:lvl4pPr>
            <a:lvl5pPr marL="0" indent="1828800" defTabSz="587022">
              <a:lnSpc>
                <a:spcPct val="100000"/>
              </a:lnSpc>
              <a:buSzTx/>
              <a:buNone/>
              <a:defRPr b="1"/>
            </a:lvl5pPr>
          </a:lstStyle>
          <a:p>
            <a:r>
              <a:t>Подзаголовок презентации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Автор и дата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buSzTx/>
              <a:buNone/>
              <a:defRPr b="1"/>
            </a:lvl1pPr>
          </a:lstStyle>
          <a:p>
            <a:r>
              <a:t>Автор и дата</a:t>
            </a:r>
          </a:p>
        </p:txBody>
      </p:sp>
      <p:sp>
        <p:nvSpPr>
          <p:cNvPr id="2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 "/>
          <p:cNvSpPr>
            <a:spLocks noGrp="1"/>
          </p:cNvSpPr>
          <p:nvPr>
            <p:ph type="pic" idx="21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buSzTx/>
              <a:buNone/>
              <a:defRPr b="1"/>
            </a:lvl1pPr>
            <a:lvl2pPr marL="0" indent="457200" defTabSz="587022">
              <a:lnSpc>
                <a:spcPct val="100000"/>
              </a:lnSpc>
              <a:buSzTx/>
              <a:buNone/>
              <a:defRPr b="1"/>
            </a:lvl2pPr>
            <a:lvl3pPr marL="0" indent="914400" defTabSz="587022">
              <a:lnSpc>
                <a:spcPct val="100000"/>
              </a:lnSpc>
              <a:buSzTx/>
              <a:buNone/>
              <a:defRPr b="1"/>
            </a:lvl3pPr>
            <a:lvl4pPr marL="0" indent="1371600" defTabSz="587022">
              <a:lnSpc>
                <a:spcPct val="100000"/>
              </a:lnSpc>
              <a:buSzTx/>
              <a:buNone/>
              <a:defRPr b="1"/>
            </a:lvl4pPr>
            <a:lvl5pPr marL="0" indent="1828800" defTabSz="587022">
              <a:lnSpc>
                <a:spcPct val="100000"/>
              </a:lnSpc>
              <a:buSzTx/>
              <a:buNone/>
              <a:defRPr b="1"/>
            </a:lvl5pPr>
          </a:lstStyle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4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r>
              <a:t>Заголовок слайда</a:t>
            </a:r>
          </a:p>
        </p:txBody>
      </p:sp>
      <p:sp>
        <p:nvSpPr>
          <p:cNvPr id="3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3" name="Подзаголовок слайда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buSzTx/>
              <a:buNone/>
              <a:defRPr b="1"/>
            </a:lvl1pPr>
          </a:lstStyle>
          <a:p>
            <a:r>
              <a:t>Подзаголовок слайда</a:t>
            </a:r>
          </a:p>
        </p:txBody>
      </p:sp>
      <p:sp>
        <p:nvSpPr>
          <p:cNvPr id="44" name="Заголовок слайда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4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Тарелка пасты папарделле с зелёным маслом из петрушки, жареным фундуком и стружкой сыра пармезан"/>
          <p:cNvSpPr>
            <a:spLocks noGrp="1"/>
          </p:cNvSpPr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62" name="Подзаголовок слайда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buSzTx/>
              <a:buNone/>
              <a:defRPr b="1"/>
            </a:lvl1pPr>
          </a:lstStyle>
          <a:p>
            <a:r>
              <a:t>Подзаголовок слайда</a:t>
            </a:r>
          </a:p>
        </p:txBody>
      </p:sp>
      <p:sp>
        <p:nvSpPr>
          <p:cNvPr id="63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Заголовок раздела"/>
          <p:cNvSpPr txBox="1">
            <a:spLocks noGrp="1"/>
          </p:cNvSpPr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sz="8200" b="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Заголовок раздела</a:t>
            </a:r>
          </a:p>
        </p:txBody>
      </p:sp>
      <p:sp>
        <p:nvSpPr>
          <p:cNvPr id="7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Заголовок слайда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80" name="Подзаголовок слайда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buSzTx/>
              <a:buNone/>
              <a:defRPr b="1"/>
            </a:lvl1pPr>
          </a:lstStyle>
          <a:p>
            <a:r>
              <a:t>Подзаголовок слайда</a:t>
            </a:r>
          </a:p>
        </p:txBody>
      </p:sp>
      <p:sp>
        <p:nvSpPr>
          <p:cNvPr id="8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повестки дня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r>
              <a:t>Заголовок повестки дня</a:t>
            </a:r>
          </a:p>
        </p:txBody>
      </p:sp>
      <p:sp>
        <p:nvSpPr>
          <p:cNvPr id="89" name="Подзаголовок повестки дня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buSzTx/>
              <a:buNone/>
              <a:defRPr b="1"/>
            </a:lvl1pPr>
          </a:lstStyle>
          <a:p>
            <a:r>
              <a:t>Подзаголовок повестки дня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Bef>
                <a:spcPts val="1300"/>
              </a:spcBef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>
              <a:lnSpc>
                <a:spcPct val="90000"/>
              </a:lnSpc>
              <a:spcBef>
                <a:spcPts val="1300"/>
              </a:spcBef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>
              <a:lnSpc>
                <a:spcPct val="90000"/>
              </a:lnSpc>
              <a:spcBef>
                <a:spcPts val="1300"/>
              </a:spcBef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>
              <a:lnSpc>
                <a:spcPct val="90000"/>
              </a:lnSpc>
              <a:spcBef>
                <a:spcPts val="1300"/>
              </a:spcBef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>
              <a:lnSpc>
                <a:spcPct val="90000"/>
              </a:lnSpc>
              <a:spcBef>
                <a:spcPts val="1300"/>
              </a:spcBef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Темы повестки дня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Информационное сообщение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Информация о факте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SzTx/>
              <a:buNone/>
              <a:defRPr sz="38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Информация о факте</a:t>
            </a:r>
          </a:p>
        </p:txBody>
      </p:sp>
      <p:sp>
        <p:nvSpPr>
          <p:cNvPr id="107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 algn="ctr">
              <a:lnSpc>
                <a:spcPct val="80000"/>
              </a:lnSpc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 algn="ctr">
              <a:lnSpc>
                <a:spcPct val="80000"/>
              </a:lnSpc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 algn="ctr">
              <a:lnSpc>
                <a:spcPct val="80000"/>
              </a:lnSpc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 algn="ctr">
              <a:lnSpc>
                <a:spcPct val="80000"/>
              </a:lnSpc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100 %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lnSpc>
                <a:spcPct val="90000"/>
              </a:lnSpc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lnSpc>
                <a:spcPct val="90000"/>
              </a:lnSpc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lnSpc>
                <a:spcPct val="90000"/>
              </a:lnSpc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lnSpc>
                <a:spcPct val="90000"/>
              </a:lnSpc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lnSpc>
                <a:spcPct val="90000"/>
              </a:lnSpc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«Важная цитата»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6" name="Авторство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buSzTx/>
              <a:buNone/>
              <a:defRPr sz="2304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Авторство</a:t>
            </a:r>
          </a:p>
        </p:txBody>
      </p:sp>
      <p:sp>
        <p:nvSpPr>
          <p:cNvPr id="11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Тарелка пасты папарделле с зелёным маслом из петрушки, жареным фундуком и стружкой сыра пармезан"/>
          <p:cNvSpPr>
            <a:spLocks noGrp="1"/>
          </p:cNvSpPr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Миска салата с жареным рисом, варёными яйцами и палочками для еды"/>
          <p:cNvSpPr>
            <a:spLocks noGrp="1"/>
          </p:cNvSpPr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Тарелка с рублеными котлетами из лосося, салатом и хумусом"/>
          <p:cNvSpPr>
            <a:spLocks noGrp="1"/>
          </p:cNvSpPr>
          <p:nvPr>
            <p:ph type="pic" idx="23"/>
          </p:nvPr>
        </p:nvSpPr>
        <p:spPr>
          <a:xfrm>
            <a:off x="4984750" y="2749413"/>
            <a:ext cx="7937500" cy="92382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Миска салата с жареным рисом, варёными яйцами и палочками для еды"/>
          <p:cNvSpPr>
            <a:spLocks noGrp="1"/>
          </p:cNvSpPr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Заголовок слайда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3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79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79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79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79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79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79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79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79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79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81000" marR="0" indent="-381000" algn="l" defTabSz="1733930" rtl="0" latinLnBrk="0">
        <a:lnSpc>
          <a:spcPct val="15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635000" marR="0" indent="-254000" algn="l" defTabSz="1733930" rtl="0" latinLnBrk="0">
        <a:lnSpc>
          <a:spcPct val="15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016000" marR="0" indent="-254000" algn="l" defTabSz="1733930" rtl="0" latinLnBrk="0">
        <a:lnSpc>
          <a:spcPct val="15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397000" marR="0" indent="-254000" algn="l" defTabSz="1733930" rtl="0" latinLnBrk="0">
        <a:lnSpc>
          <a:spcPct val="15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1778000" marR="0" indent="-254000" algn="l" defTabSz="1733930" rtl="0" latinLnBrk="0">
        <a:lnSpc>
          <a:spcPct val="15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159000" marR="0" indent="-254000" algn="l" defTabSz="1733930" rtl="0" latinLnBrk="0">
        <a:lnSpc>
          <a:spcPct val="15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540000" marR="0" indent="-254000" algn="l" defTabSz="1733930" rtl="0" latinLnBrk="0">
        <a:lnSpc>
          <a:spcPct val="15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2921000" marR="0" indent="-254000" algn="l" defTabSz="1733930" rtl="0" latinLnBrk="0">
        <a:lnSpc>
          <a:spcPct val="15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302000" marR="0" indent="-254000" algn="l" defTabSz="1733930" rtl="0" latinLnBrk="0">
        <a:lnSpc>
          <a:spcPct val="15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48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Автор: Гуринович Андрей Викторович…"/>
          <p:cNvSpPr txBox="1">
            <a:spLocks noGrp="1"/>
          </p:cNvSpPr>
          <p:nvPr>
            <p:ph type="body" idx="21"/>
          </p:nvPr>
        </p:nvSpPr>
        <p:spPr>
          <a:xfrm>
            <a:off x="6810458" y="8326292"/>
            <a:ext cx="5930181" cy="79225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</a:rPr>
              <a:t>Автор: </a:t>
            </a:r>
            <a:r>
              <a:rPr lang="ru-RU" dirty="0" err="1" smtClean="0">
                <a:solidFill>
                  <a:schemeClr val="bg1"/>
                </a:solidFill>
              </a:rPr>
              <a:t>Кобринец</a:t>
            </a:r>
            <a:r>
              <a:rPr lang="ru-RU" dirty="0" smtClean="0">
                <a:solidFill>
                  <a:schemeClr val="bg1"/>
                </a:solidFill>
              </a:rPr>
              <a:t> Полина Степановна</a:t>
            </a:r>
            <a:endParaRPr lang="ru-RU" dirty="0">
              <a:solidFill>
                <a:schemeClr val="bg1"/>
              </a:solidFill>
            </a:endParaRPr>
          </a:p>
          <a:p>
            <a:pPr algn="r"/>
            <a:r>
              <a:rPr lang="ru-RU" dirty="0">
                <a:solidFill>
                  <a:schemeClr val="bg1"/>
                </a:solidFill>
              </a:rPr>
              <a:t>Руководитель: </a:t>
            </a:r>
            <a:r>
              <a:rPr lang="ru-RU" dirty="0" err="1" smtClean="0">
                <a:solidFill>
                  <a:schemeClr val="bg1"/>
                </a:solidFill>
              </a:rPr>
              <a:t>Стракович</a:t>
            </a:r>
            <a:r>
              <a:rPr lang="ru-RU" dirty="0" smtClean="0">
                <a:solidFill>
                  <a:schemeClr val="bg1"/>
                </a:solidFill>
              </a:rPr>
              <a:t> Андрей Иванович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52" name="Программное средство для просмотра и…"/>
          <p:cNvSpPr txBox="1">
            <a:spLocks noGrp="1"/>
          </p:cNvSpPr>
          <p:nvPr>
            <p:ph type="ctrTitle"/>
          </p:nvPr>
        </p:nvSpPr>
        <p:spPr>
          <a:xfrm>
            <a:off x="6810460" y="462194"/>
            <a:ext cx="5930180" cy="169672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ru-RU" dirty="0" smtClean="0">
                <a:solidFill>
                  <a:schemeClr val="bg1"/>
                </a:solidFill>
              </a:rPr>
              <a:t>Сервис рекомендаций фильмов с использованием ИИ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53" name="bsuirSchedule"/>
          <p:cNvSpPr txBox="1">
            <a:spLocks noGrp="1"/>
          </p:cNvSpPr>
          <p:nvPr>
            <p:ph type="subTitle" sz="quarter" idx="1"/>
          </p:nvPr>
        </p:nvSpPr>
        <p:spPr>
          <a:xfrm>
            <a:off x="6810459" y="2057228"/>
            <a:ext cx="5930181" cy="62501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/>
            <a:r>
              <a:rPr lang="en-US" dirty="0" err="1" smtClean="0">
                <a:solidFill>
                  <a:schemeClr val="bg1"/>
                </a:solidFill>
              </a:rPr>
              <a:t>MovieAs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84" y="563879"/>
            <a:ext cx="5964615" cy="852874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48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Наивное приложение для iOS и iPadOS;…"/>
          <p:cNvSpPr txBox="1">
            <a:spLocks noGrp="1"/>
          </p:cNvSpPr>
          <p:nvPr>
            <p:ph type="body" sz="quarter" idx="1"/>
          </p:nvPr>
        </p:nvSpPr>
        <p:spPr>
          <a:xfrm>
            <a:off x="698500" y="1721800"/>
            <a:ext cx="11607801" cy="310951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Разработать </a:t>
            </a:r>
            <a:r>
              <a:rPr lang="ru-RU" dirty="0" smtClean="0">
                <a:solidFill>
                  <a:schemeClr val="bg1"/>
                </a:solidFill>
              </a:rPr>
              <a:t>сервис рекомендаций фильмов, который будет</a:t>
            </a:r>
            <a:r>
              <a:rPr lang="en-US" dirty="0" smtClean="0">
                <a:solidFill>
                  <a:schemeClr val="bg1"/>
                </a:solidFill>
              </a:rPr>
              <a:t>: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Использовать все необходимые </a:t>
            </a:r>
            <a:r>
              <a:rPr lang="ru-RU" dirty="0">
                <a:solidFill>
                  <a:schemeClr val="bg1"/>
                </a:solidFill>
              </a:rPr>
              <a:t>доступные данные </a:t>
            </a:r>
            <a:r>
              <a:rPr lang="ru-RU" dirty="0" err="1">
                <a:solidFill>
                  <a:schemeClr val="bg1"/>
                </a:solidFill>
              </a:rPr>
              <a:t>TMDb</a:t>
            </a:r>
            <a:r>
              <a:rPr lang="ru-RU" dirty="0">
                <a:solidFill>
                  <a:schemeClr val="bg1"/>
                </a:solidFill>
              </a:rPr>
              <a:t> API</a:t>
            </a:r>
            <a:r>
              <a:rPr lang="ru-RU" dirty="0" smtClean="0">
                <a:solidFill>
                  <a:schemeClr val="bg1"/>
                </a:solidFill>
              </a:rPr>
              <a:t>;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Иметь удобный и адаптивный графический пользовательский интерфейс;</a:t>
            </a:r>
          </a:p>
          <a:p>
            <a:r>
              <a:rPr lang="ru-RU" dirty="0">
                <a:solidFill>
                  <a:schemeClr val="bg1"/>
                </a:solidFill>
              </a:rPr>
              <a:t>Иметь возможность добавлять </a:t>
            </a:r>
            <a:r>
              <a:rPr lang="ru-RU" dirty="0" smtClean="0">
                <a:solidFill>
                  <a:schemeClr val="bg1"/>
                </a:solidFill>
              </a:rPr>
              <a:t>фильмы в избранные;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Хранить все данные </a:t>
            </a:r>
            <a:r>
              <a:rPr lang="ru-RU" dirty="0">
                <a:solidFill>
                  <a:schemeClr val="bg1"/>
                </a:solidFill>
              </a:rPr>
              <a:t>в постоянном хранилище приложения.</a:t>
            </a:r>
          </a:p>
        </p:txBody>
      </p:sp>
      <p:sp>
        <p:nvSpPr>
          <p:cNvPr id="157" name="Цели"/>
          <p:cNvSpPr txBox="1">
            <a:spLocks noGrp="1"/>
          </p:cNvSpPr>
          <p:nvPr>
            <p:ph type="body" idx="21"/>
          </p:nvPr>
        </p:nvSpPr>
        <p:spPr>
          <a:xfrm>
            <a:off x="698499" y="1058990"/>
            <a:ext cx="11607802" cy="67180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anchor="b"/>
          <a:lstStyle/>
          <a:p>
            <a:r>
              <a:rPr lang="ru-RU" dirty="0">
                <a:solidFill>
                  <a:schemeClr val="bg1"/>
                </a:solidFill>
              </a:rPr>
              <a:t>Цель</a:t>
            </a:r>
          </a:p>
        </p:txBody>
      </p:sp>
      <p:sp>
        <p:nvSpPr>
          <p:cNvPr id="158" name="1. Цели и задачи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671802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1. Цель и задачи</a:t>
            </a:r>
          </a:p>
        </p:txBody>
      </p:sp>
      <p:sp>
        <p:nvSpPr>
          <p:cNvPr id="159" name="Задачи"/>
          <p:cNvSpPr txBox="1"/>
          <p:nvPr/>
        </p:nvSpPr>
        <p:spPr>
          <a:xfrm>
            <a:off x="698499" y="4831311"/>
            <a:ext cx="11607802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>
            <a:lvl1pPr algn="l" defTabSz="587022">
              <a:defRPr sz="2000" b="1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Задачи</a:t>
            </a:r>
          </a:p>
        </p:txBody>
      </p:sp>
      <p:sp>
        <p:nvSpPr>
          <p:cNvPr id="160" name="Создание реляционной модели данных;…"/>
          <p:cNvSpPr txBox="1"/>
          <p:nvPr/>
        </p:nvSpPr>
        <p:spPr>
          <a:xfrm>
            <a:off x="698499" y="5494123"/>
            <a:ext cx="12276645" cy="3769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ru-RU" dirty="0">
                <a:solidFill>
                  <a:schemeClr val="bg1"/>
                </a:solidFill>
              </a:rPr>
              <a:t>Создание реляционной модели данных;</a:t>
            </a:r>
          </a:p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ru-RU" dirty="0">
                <a:solidFill>
                  <a:schemeClr val="bg1"/>
                </a:solidFill>
              </a:rPr>
              <a:t>Разработка пользовательского интерфейса;</a:t>
            </a:r>
          </a:p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ru-RU" dirty="0">
                <a:solidFill>
                  <a:schemeClr val="bg1"/>
                </a:solidFill>
              </a:rPr>
              <a:t>Разработка универсальных шаблонных элементов графического интерфейса;</a:t>
            </a:r>
          </a:p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ru-RU" dirty="0">
                <a:solidFill>
                  <a:schemeClr val="bg1"/>
                </a:solidFill>
              </a:rPr>
              <a:t>Разработка алгоритмов для объединения данных из API в связанную базу данных;</a:t>
            </a:r>
          </a:p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ru-RU" dirty="0">
                <a:solidFill>
                  <a:schemeClr val="bg1"/>
                </a:solidFill>
              </a:rPr>
              <a:t>Разработка алгоритмов для преобразования данных в подходящий для представления вид;</a:t>
            </a:r>
          </a:p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ru-RU" dirty="0">
                <a:solidFill>
                  <a:schemeClr val="bg1"/>
                </a:solidFill>
              </a:rPr>
              <a:t>Разработка асинхронных методов для извлечения данных из API;</a:t>
            </a:r>
          </a:p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ru-RU" dirty="0">
                <a:solidFill>
                  <a:schemeClr val="bg1"/>
                </a:solidFill>
              </a:rPr>
              <a:t>Оптимизация обработки данных путём организации параллельных вычислений;</a:t>
            </a:r>
          </a:p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ru-RU" dirty="0">
                <a:solidFill>
                  <a:schemeClr val="bg1"/>
                </a:solidFill>
              </a:rPr>
              <a:t>Разработка реактивного функционала для своевременного обновления данных представлений.</a:t>
            </a:r>
            <a:r>
              <a:rPr lang="ru-RU" dirty="0"/>
              <a:t> 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48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2. Используемые технологии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671802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2. Используемые технологии</a:t>
            </a:r>
          </a:p>
        </p:txBody>
      </p:sp>
      <p:pic>
        <p:nvPicPr>
          <p:cNvPr id="1026" name="Picture 2" descr="https://avatars.mds.yandex.net/i?id=8366de283b0faf2696be90500ea67d8f629d543c-5875527-images-thumbs&amp;n=1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2" t="3559" r="25278" b="1955"/>
          <a:stretch/>
        </p:blipFill>
        <p:spPr bwMode="auto">
          <a:xfrm>
            <a:off x="1469315" y="1748116"/>
            <a:ext cx="2171700" cy="222504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52" y="4195482"/>
            <a:ext cx="3489626" cy="3418409"/>
          </a:xfrm>
          <a:prstGeom prst="rect">
            <a:avLst/>
          </a:prstGeom>
        </p:spPr>
      </p:pic>
      <p:pic>
        <p:nvPicPr>
          <p:cNvPr id="1036" name="Picture 12" descr="https://avatars.mds.yandex.net/i?id=b7e8494f5475b464cd11f5b88301577d81b392aa-4406871-images-thumbs&amp;n=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496" y="1802133"/>
            <a:ext cx="2177808" cy="217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785" y="1556611"/>
            <a:ext cx="2630892" cy="241654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1744" y="5040231"/>
            <a:ext cx="3426296" cy="247173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48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Хранение данных в постоянном хранилище CoreData;…"/>
          <p:cNvSpPr txBox="1">
            <a:spLocks noGrp="1"/>
          </p:cNvSpPr>
          <p:nvPr>
            <p:ph type="body" sz="quarter" idx="1"/>
          </p:nvPr>
        </p:nvSpPr>
        <p:spPr>
          <a:xfrm>
            <a:off x="698499" y="1721801"/>
            <a:ext cx="7652574" cy="2162981"/>
          </a:xfrm>
          <a:prstGeom prst="rect">
            <a:avLst/>
          </a:prstGeo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Хранение </a:t>
            </a:r>
            <a:r>
              <a:rPr lang="ru-RU" dirty="0">
                <a:solidFill>
                  <a:schemeClr val="bg1"/>
                </a:solidFill>
              </a:rPr>
              <a:t>данных в базе данных </a:t>
            </a:r>
            <a:r>
              <a:rPr lang="ru-RU" dirty="0" err="1">
                <a:solidFill>
                  <a:schemeClr val="bg1"/>
                </a:solidFill>
              </a:rPr>
              <a:t>PostgreSQL</a:t>
            </a:r>
            <a:r>
              <a:rPr lang="ru-RU" dirty="0">
                <a:solidFill>
                  <a:schemeClr val="bg1"/>
                </a:solidFill>
              </a:rPr>
              <a:t>;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И</a:t>
            </a:r>
            <a:r>
              <a:rPr lang="ru-RU" dirty="0" smtClean="0">
                <a:solidFill>
                  <a:schemeClr val="bg1"/>
                </a:solidFill>
              </a:rPr>
              <a:t>спользование </a:t>
            </a:r>
            <a:r>
              <a:rPr lang="ru-RU" dirty="0">
                <a:solidFill>
                  <a:schemeClr val="bg1"/>
                </a:solidFill>
              </a:rPr>
              <a:t>реактивного и декларативного программирования;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А</a:t>
            </a:r>
            <a:r>
              <a:rPr lang="ru-RU" dirty="0" smtClean="0">
                <a:solidFill>
                  <a:schemeClr val="bg1"/>
                </a:solidFill>
              </a:rPr>
              <a:t>синхронная </a:t>
            </a:r>
            <a:r>
              <a:rPr lang="ru-RU" dirty="0">
                <a:solidFill>
                  <a:schemeClr val="bg1"/>
                </a:solidFill>
              </a:rPr>
              <a:t>загрузка данных.</a:t>
            </a:r>
          </a:p>
        </p:txBody>
      </p:sp>
      <p:sp>
        <p:nvSpPr>
          <p:cNvPr id="168" name="Технические"/>
          <p:cNvSpPr txBox="1">
            <a:spLocks noGrp="1"/>
          </p:cNvSpPr>
          <p:nvPr>
            <p:ph type="body" idx="21"/>
          </p:nvPr>
        </p:nvSpPr>
        <p:spPr>
          <a:xfrm>
            <a:off x="698499" y="1058990"/>
            <a:ext cx="11607802" cy="67180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anchor="b"/>
          <a:lstStyle/>
          <a:p>
            <a:r>
              <a:rPr lang="ru-RU" dirty="0">
                <a:solidFill>
                  <a:schemeClr val="bg1"/>
                </a:solidFill>
              </a:rPr>
              <a:t>Технические</a:t>
            </a:r>
          </a:p>
        </p:txBody>
      </p:sp>
      <p:sp>
        <p:nvSpPr>
          <p:cNvPr id="169" name="Основные особенности разработки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671802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3. Основные особенности проекта</a:t>
            </a:r>
          </a:p>
        </p:txBody>
      </p:sp>
      <p:sp>
        <p:nvSpPr>
          <p:cNvPr id="170" name="Функциональные"/>
          <p:cNvSpPr txBox="1"/>
          <p:nvPr/>
        </p:nvSpPr>
        <p:spPr>
          <a:xfrm>
            <a:off x="698498" y="3521152"/>
            <a:ext cx="11607802" cy="671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>
            <a:lvl1pPr algn="l" defTabSz="587022">
              <a:defRPr sz="2000" b="1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Функциональные</a:t>
            </a:r>
          </a:p>
        </p:txBody>
      </p:sp>
      <p:sp>
        <p:nvSpPr>
          <p:cNvPr id="171" name="Возможность добавлять задания и отслеживать сроки их выполнения;…"/>
          <p:cNvSpPr txBox="1"/>
          <p:nvPr/>
        </p:nvSpPr>
        <p:spPr>
          <a:xfrm>
            <a:off x="698499" y="4183963"/>
            <a:ext cx="7652573" cy="5277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ru-RU" sz="2000" dirty="0">
                <a:solidFill>
                  <a:schemeClr val="bg1"/>
                </a:solidFill>
                <a:sym typeface="Arial"/>
              </a:rPr>
              <a:t>В</a:t>
            </a:r>
            <a:r>
              <a:rPr lang="ru-RU" sz="2000" dirty="0" smtClean="0">
                <a:solidFill>
                  <a:schemeClr val="bg1"/>
                </a:solidFill>
                <a:sym typeface="Arial"/>
              </a:rPr>
              <a:t>озможность </a:t>
            </a:r>
            <a:r>
              <a:rPr lang="ru-RU" sz="2000" dirty="0">
                <a:solidFill>
                  <a:schemeClr val="bg1"/>
                </a:solidFill>
                <a:sym typeface="Arial"/>
              </a:rPr>
              <a:t>поиска различных фильмов; </a:t>
            </a:r>
            <a:endParaRPr lang="ru-RU" sz="2000" dirty="0" smtClean="0">
              <a:solidFill>
                <a:schemeClr val="bg1"/>
              </a:solidFill>
              <a:sym typeface="Arial"/>
            </a:endParaRPr>
          </a:p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ru-RU" sz="2000" dirty="0">
                <a:solidFill>
                  <a:schemeClr val="bg1"/>
                </a:solidFill>
                <a:sym typeface="Arial"/>
              </a:rPr>
              <a:t>В</a:t>
            </a:r>
            <a:r>
              <a:rPr lang="ru-RU" sz="2000" dirty="0" smtClean="0">
                <a:solidFill>
                  <a:schemeClr val="bg1"/>
                </a:solidFill>
                <a:sym typeface="Arial"/>
              </a:rPr>
              <a:t>озможность </a:t>
            </a:r>
            <a:r>
              <a:rPr lang="ru-RU" sz="2000" dirty="0">
                <a:solidFill>
                  <a:schemeClr val="bg1"/>
                </a:solidFill>
                <a:sym typeface="Arial"/>
              </a:rPr>
              <a:t>подобрать фильмы по критериям; </a:t>
            </a:r>
            <a:endParaRPr lang="ru-RU" sz="2000" dirty="0" smtClean="0">
              <a:solidFill>
                <a:schemeClr val="bg1"/>
              </a:solidFill>
              <a:sym typeface="Arial"/>
            </a:endParaRPr>
          </a:p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ru-RU" sz="2000" dirty="0">
                <a:solidFill>
                  <a:schemeClr val="bg1"/>
                </a:solidFill>
                <a:sym typeface="Arial"/>
              </a:rPr>
              <a:t>В</a:t>
            </a:r>
            <a:r>
              <a:rPr lang="ru-RU" sz="2000" dirty="0" smtClean="0">
                <a:solidFill>
                  <a:schemeClr val="bg1"/>
                </a:solidFill>
                <a:sym typeface="Arial"/>
              </a:rPr>
              <a:t>озможность </a:t>
            </a:r>
            <a:r>
              <a:rPr lang="ru-RU" sz="2000" dirty="0">
                <a:solidFill>
                  <a:schemeClr val="bg1"/>
                </a:solidFill>
                <a:sym typeface="Arial"/>
              </a:rPr>
              <a:t>построить рекомендации фильмов на основе предпочтений; </a:t>
            </a:r>
            <a:endParaRPr lang="ru-RU" sz="2000" dirty="0" smtClean="0">
              <a:solidFill>
                <a:schemeClr val="bg1"/>
              </a:solidFill>
              <a:sym typeface="Arial"/>
            </a:endParaRPr>
          </a:p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ru-RU" sz="2000" dirty="0">
                <a:solidFill>
                  <a:schemeClr val="bg1"/>
                </a:solidFill>
                <a:sym typeface="Arial"/>
              </a:rPr>
              <a:t>В</a:t>
            </a:r>
            <a:r>
              <a:rPr lang="ru-RU" sz="2000" dirty="0" smtClean="0">
                <a:solidFill>
                  <a:schemeClr val="bg1"/>
                </a:solidFill>
                <a:sym typeface="Arial"/>
              </a:rPr>
              <a:t>озможность </a:t>
            </a:r>
            <a:r>
              <a:rPr lang="ru-RU" sz="2000" dirty="0">
                <a:solidFill>
                  <a:schemeClr val="bg1"/>
                </a:solidFill>
                <a:sym typeface="Arial"/>
              </a:rPr>
              <a:t>получить случайный фильм; </a:t>
            </a:r>
            <a:endParaRPr lang="ru-RU" sz="2000" dirty="0" smtClean="0">
              <a:solidFill>
                <a:schemeClr val="bg1"/>
              </a:solidFill>
              <a:sym typeface="Arial"/>
            </a:endParaRPr>
          </a:p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ru-RU" sz="2000" dirty="0">
                <a:solidFill>
                  <a:schemeClr val="bg1"/>
                </a:solidFill>
                <a:sym typeface="Arial"/>
              </a:rPr>
              <a:t>А</a:t>
            </a:r>
            <a:r>
              <a:rPr lang="ru-RU" sz="2000" dirty="0" smtClean="0">
                <a:solidFill>
                  <a:schemeClr val="bg1"/>
                </a:solidFill>
                <a:sym typeface="Arial"/>
              </a:rPr>
              <a:t>утентификация </a:t>
            </a:r>
            <a:r>
              <a:rPr lang="ru-RU" sz="2000" dirty="0">
                <a:solidFill>
                  <a:schemeClr val="bg1"/>
                </a:solidFill>
                <a:sym typeface="Arial"/>
              </a:rPr>
              <a:t>и авторизация; </a:t>
            </a:r>
            <a:endParaRPr lang="ru-RU" sz="2000" dirty="0" smtClean="0">
              <a:solidFill>
                <a:schemeClr val="bg1"/>
              </a:solidFill>
              <a:sym typeface="Arial"/>
            </a:endParaRPr>
          </a:p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ru-RU" sz="2000" dirty="0">
                <a:solidFill>
                  <a:schemeClr val="bg1"/>
                </a:solidFill>
                <a:sym typeface="Arial"/>
              </a:rPr>
              <a:t>С</a:t>
            </a:r>
            <a:r>
              <a:rPr lang="ru-RU" sz="2000" dirty="0" smtClean="0">
                <a:solidFill>
                  <a:schemeClr val="bg1"/>
                </a:solidFill>
                <a:sym typeface="Arial"/>
              </a:rPr>
              <a:t>траница </a:t>
            </a:r>
            <a:r>
              <a:rPr lang="ru-RU" sz="2000" dirty="0">
                <a:solidFill>
                  <a:schemeClr val="bg1"/>
                </a:solidFill>
                <a:sym typeface="Arial"/>
              </a:rPr>
              <a:t>с избранными; </a:t>
            </a:r>
            <a:endParaRPr lang="ru-RU" sz="2000" dirty="0" smtClean="0">
              <a:solidFill>
                <a:schemeClr val="bg1"/>
              </a:solidFill>
              <a:sym typeface="Arial"/>
            </a:endParaRPr>
          </a:p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ru-RU" sz="2000" dirty="0">
                <a:solidFill>
                  <a:schemeClr val="bg1"/>
                </a:solidFill>
                <a:sym typeface="Arial"/>
              </a:rPr>
              <a:t>П</a:t>
            </a:r>
            <a:r>
              <a:rPr lang="ru-RU" sz="2000" dirty="0" smtClean="0">
                <a:solidFill>
                  <a:schemeClr val="bg1"/>
                </a:solidFill>
                <a:sym typeface="Arial"/>
              </a:rPr>
              <a:t>одробная </a:t>
            </a:r>
            <a:r>
              <a:rPr lang="ru-RU" sz="2000" dirty="0">
                <a:solidFill>
                  <a:schemeClr val="bg1"/>
                </a:solidFill>
                <a:sym typeface="Arial"/>
              </a:rPr>
              <a:t>информация о каждом фильме.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30048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" y="152400"/>
            <a:ext cx="130048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2985" y="1403582"/>
            <a:ext cx="3373315" cy="681175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48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Просмотр по календарным дням;…"/>
          <p:cNvSpPr txBox="1">
            <a:spLocks noGrp="1"/>
          </p:cNvSpPr>
          <p:nvPr>
            <p:ph type="body" idx="1"/>
          </p:nvPr>
        </p:nvSpPr>
        <p:spPr>
          <a:xfrm>
            <a:off x="698498" y="1721801"/>
            <a:ext cx="7652573" cy="7523483"/>
          </a:xfrm>
          <a:prstGeom prst="rect">
            <a:avLst/>
          </a:prstGeo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Динамический ввод названия</a:t>
            </a:r>
            <a:r>
              <a:rPr lang="ru-RU" dirty="0" smtClean="0">
                <a:solidFill>
                  <a:schemeClr val="bg1"/>
                </a:solidFill>
              </a:rPr>
              <a:t>;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Выбор нужного фильма из выпадающего списка</a:t>
            </a:r>
            <a:r>
              <a:rPr lang="ru-RU" dirty="0" smtClean="0">
                <a:solidFill>
                  <a:schemeClr val="bg1"/>
                </a:solidFill>
              </a:rPr>
              <a:t>;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Просмотр карточки с детальной информацией о фильме</a:t>
            </a:r>
            <a:r>
              <a:rPr lang="ru-RU" dirty="0" smtClean="0">
                <a:solidFill>
                  <a:schemeClr val="bg1"/>
                </a:solidFill>
              </a:rPr>
              <a:t>;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Добавление в избранное</a:t>
            </a:r>
            <a:r>
              <a:rPr lang="ru-RU" dirty="0">
                <a:solidFill>
                  <a:schemeClr val="bg1"/>
                </a:solidFill>
              </a:rPr>
              <a:t>.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75" name="Возможности"/>
          <p:cNvSpPr txBox="1">
            <a:spLocks noGrp="1"/>
          </p:cNvSpPr>
          <p:nvPr>
            <p:ph type="body" idx="21"/>
          </p:nvPr>
        </p:nvSpPr>
        <p:spPr>
          <a:xfrm>
            <a:off x="698499" y="1058990"/>
            <a:ext cx="11607802" cy="67180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anchor="b"/>
          <a:lstStyle/>
          <a:p>
            <a:r>
              <a:rPr lang="ru-RU" dirty="0">
                <a:solidFill>
                  <a:schemeClr val="bg1"/>
                </a:solidFill>
              </a:rPr>
              <a:t>Возможности</a:t>
            </a:r>
            <a:r>
              <a:rPr lang="ru-RU" dirty="0"/>
              <a:t> </a:t>
            </a:r>
          </a:p>
        </p:txBody>
      </p:sp>
      <p:sp>
        <p:nvSpPr>
          <p:cNvPr id="176" name="4. Расписание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671802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4. </a:t>
            </a:r>
            <a:r>
              <a:rPr lang="ru-RU" dirty="0" smtClean="0">
                <a:solidFill>
                  <a:schemeClr val="bg1"/>
                </a:solidFill>
              </a:rPr>
              <a:t>Поиск фильмов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30048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2778" y="1234063"/>
            <a:ext cx="4071659" cy="791711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41" y="4286027"/>
            <a:ext cx="8124884" cy="486515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48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Устанавливать срок выполнения;…"/>
          <p:cNvSpPr txBox="1">
            <a:spLocks noGrp="1"/>
          </p:cNvSpPr>
          <p:nvPr>
            <p:ph type="body" idx="1"/>
          </p:nvPr>
        </p:nvSpPr>
        <p:spPr>
          <a:xfrm>
            <a:off x="698499" y="1721801"/>
            <a:ext cx="7035411" cy="7523483"/>
          </a:xfrm>
          <a:prstGeom prst="rect">
            <a:avLst/>
          </a:prstGeo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Выбрать предпочитаемый жанр</a:t>
            </a:r>
            <a:r>
              <a:rPr lang="ru-RU" dirty="0" smtClean="0">
                <a:solidFill>
                  <a:schemeClr val="bg1"/>
                </a:solidFill>
              </a:rPr>
              <a:t>;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Выбрать диапазон дат выхода;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Выбрать страну производителя</a:t>
            </a:r>
            <a:r>
              <a:rPr lang="ru-RU" dirty="0" smtClean="0">
                <a:solidFill>
                  <a:schemeClr val="bg1"/>
                </a:solidFill>
              </a:rPr>
              <a:t>;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Получить фильмы по выбранным критериям</a:t>
            </a:r>
            <a:r>
              <a:rPr lang="ru-RU" dirty="0" smtClean="0">
                <a:solidFill>
                  <a:schemeClr val="bg1"/>
                </a:solidFill>
              </a:rPr>
              <a:t>;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Просмотреть детальную информацию о фильмах</a:t>
            </a:r>
            <a:r>
              <a:rPr lang="ru-RU" dirty="0">
                <a:solidFill>
                  <a:schemeClr val="bg1"/>
                </a:solidFill>
              </a:rPr>
              <a:t>;</a:t>
            </a:r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Добавить в избранное.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80" name="Возможности"/>
          <p:cNvSpPr txBox="1">
            <a:spLocks noGrp="1"/>
          </p:cNvSpPr>
          <p:nvPr>
            <p:ph type="body" idx="21"/>
          </p:nvPr>
        </p:nvSpPr>
        <p:spPr>
          <a:xfrm>
            <a:off x="698499" y="1058990"/>
            <a:ext cx="6433821" cy="67180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anchor="b"/>
          <a:lstStyle/>
          <a:p>
            <a:r>
              <a:rPr lang="ru-RU" dirty="0">
                <a:solidFill>
                  <a:schemeClr val="bg1"/>
                </a:solidFill>
              </a:rPr>
              <a:t>Возможности</a:t>
            </a:r>
            <a:r>
              <a:rPr lang="ru-RU" dirty="0"/>
              <a:t> </a:t>
            </a:r>
          </a:p>
        </p:txBody>
      </p:sp>
      <p:sp>
        <p:nvSpPr>
          <p:cNvPr id="181" name="5. Задания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671802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5. </a:t>
            </a:r>
            <a:r>
              <a:rPr lang="ru-RU" dirty="0" smtClean="0">
                <a:solidFill>
                  <a:schemeClr val="bg1"/>
                </a:solidFill>
              </a:rPr>
              <a:t>Подбор по критериям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2515" y="988698"/>
            <a:ext cx="4215180" cy="246121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715" y="3929413"/>
            <a:ext cx="4092042" cy="235970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2515" y="6828384"/>
            <a:ext cx="4186054" cy="24169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694" y="5475586"/>
            <a:ext cx="6525576" cy="3769698"/>
          </a:xfrm>
          <a:prstGeom prst="rect">
            <a:avLst/>
          </a:prstGeom>
        </p:spPr>
      </p:pic>
      <p:sp>
        <p:nvSpPr>
          <p:cNvPr id="10" name="Возможности"/>
          <p:cNvSpPr txBox="1">
            <a:spLocks/>
          </p:cNvSpPr>
          <p:nvPr/>
        </p:nvSpPr>
        <p:spPr>
          <a:xfrm>
            <a:off x="7380592" y="998984"/>
            <a:ext cx="1063845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>
            <a:lvl1pPr marL="0" marR="0" indent="0" algn="l" defTabSz="58702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635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1016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1397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1778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2159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2540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2921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3302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ru-RU" dirty="0" smtClean="0">
                <a:solidFill>
                  <a:schemeClr val="bg1"/>
                </a:solidFill>
              </a:rPr>
              <a:t>Шаг 1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Возможности"/>
          <p:cNvSpPr txBox="1">
            <a:spLocks/>
          </p:cNvSpPr>
          <p:nvPr/>
        </p:nvSpPr>
        <p:spPr>
          <a:xfrm>
            <a:off x="7380592" y="3913684"/>
            <a:ext cx="1063845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>
            <a:lvl1pPr marL="0" marR="0" indent="0" algn="l" defTabSz="58702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635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1016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1397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1778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2159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2540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2921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3302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ru-RU" dirty="0" smtClean="0">
                <a:solidFill>
                  <a:schemeClr val="bg1"/>
                </a:solidFill>
              </a:rPr>
              <a:t>Шаг 2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2" name="Возможности"/>
          <p:cNvSpPr txBox="1">
            <a:spLocks/>
          </p:cNvSpPr>
          <p:nvPr/>
        </p:nvSpPr>
        <p:spPr>
          <a:xfrm>
            <a:off x="7380592" y="6688633"/>
            <a:ext cx="1063845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>
            <a:lvl1pPr marL="0" marR="0" indent="0" algn="l" defTabSz="58702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635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1016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1397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1778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2159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2540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2921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3302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ru-RU" dirty="0" smtClean="0">
                <a:solidFill>
                  <a:schemeClr val="bg1"/>
                </a:solidFill>
              </a:rPr>
              <a:t>Шаг 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Возможности"/>
          <p:cNvSpPr txBox="1">
            <a:spLocks/>
          </p:cNvSpPr>
          <p:nvPr/>
        </p:nvSpPr>
        <p:spPr>
          <a:xfrm>
            <a:off x="1208392" y="4998720"/>
            <a:ext cx="1839608" cy="435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>
            <a:lvl1pPr marL="0" marR="0" indent="0" algn="l" defTabSz="58702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635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1016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1397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1778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2159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2540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2921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3302000" marR="0" indent="-254000" algn="l" defTabSz="1733930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ru-RU" dirty="0" smtClean="0">
                <a:solidFill>
                  <a:schemeClr val="bg1"/>
                </a:solidFill>
              </a:rPr>
              <a:t>Результат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48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Поиск по номеру и специальности;…"/>
          <p:cNvSpPr txBox="1">
            <a:spLocks noGrp="1"/>
          </p:cNvSpPr>
          <p:nvPr>
            <p:ph type="body" idx="1"/>
          </p:nvPr>
        </p:nvSpPr>
        <p:spPr>
          <a:xfrm>
            <a:off x="698500" y="1721801"/>
            <a:ext cx="9832340" cy="2956879"/>
          </a:xfrm>
          <a:prstGeom prst="rect">
            <a:avLst/>
          </a:prstGeo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Динамический поиск по названию;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Выбрать из выпадающего списка нужный фильм;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Выбрать несколько фильмов;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Получить рекомендации на основе введенных фильмов;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Получить 10 карточек рекомендованных фильмов с подробной информацией;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Добавить в избранное.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85" name="Возможности"/>
          <p:cNvSpPr txBox="1">
            <a:spLocks noGrp="1"/>
          </p:cNvSpPr>
          <p:nvPr>
            <p:ph type="body" idx="21"/>
          </p:nvPr>
        </p:nvSpPr>
        <p:spPr>
          <a:xfrm>
            <a:off x="698499" y="1058990"/>
            <a:ext cx="11607802" cy="67180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anchor="b"/>
          <a:lstStyle/>
          <a:p>
            <a:r>
              <a:rPr lang="ru-RU" dirty="0">
                <a:solidFill>
                  <a:schemeClr val="bg1"/>
                </a:solidFill>
              </a:rPr>
              <a:t>Возможности </a:t>
            </a:r>
          </a:p>
        </p:txBody>
      </p:sp>
      <p:sp>
        <p:nvSpPr>
          <p:cNvPr id="186" name="6. Группы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671802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6. </a:t>
            </a:r>
            <a:r>
              <a:rPr lang="ru-RU" dirty="0" smtClean="0">
                <a:solidFill>
                  <a:schemeClr val="bg1"/>
                </a:solidFill>
              </a:rPr>
              <a:t>Похожие фильмы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35" y="5964203"/>
            <a:ext cx="5678011" cy="3347437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440" y="5986116"/>
            <a:ext cx="5707380" cy="3303610"/>
          </a:xfrm>
          <a:prstGeom prst="rect">
            <a:avLst/>
          </a:prstGeom>
        </p:spPr>
      </p:pic>
      <p:sp>
        <p:nvSpPr>
          <p:cNvPr id="4" name="Стрелка вправо 3"/>
          <p:cNvSpPr/>
          <p:nvPr/>
        </p:nvSpPr>
        <p:spPr>
          <a:xfrm>
            <a:off x="6187440" y="7444881"/>
            <a:ext cx="883920" cy="386080"/>
          </a:xfrm>
          <a:prstGeom prst="rightArrow">
            <a:avLst/>
          </a:prstGeom>
          <a:solidFill>
            <a:srgbClr val="3F48C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48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8. Адаптивность интерфейса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671802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7</a:t>
            </a:r>
            <a:r>
              <a:rPr lang="ru-RU" dirty="0" smtClean="0">
                <a:solidFill>
                  <a:schemeClr val="bg1"/>
                </a:solidFill>
              </a:rPr>
              <a:t>. </a:t>
            </a:r>
            <a:r>
              <a:rPr lang="ru-RU" dirty="0">
                <a:solidFill>
                  <a:schemeClr val="bg1"/>
                </a:solidFill>
              </a:rPr>
              <a:t>Адаптивность интерфейса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680" y="1354392"/>
            <a:ext cx="3946620" cy="761479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474" y="1469090"/>
            <a:ext cx="5432614" cy="336008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021" y="4943758"/>
            <a:ext cx="6753520" cy="417334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48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8. Адаптивность интерфейса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671802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8</a:t>
            </a:r>
            <a:r>
              <a:rPr lang="ru-RU" dirty="0" smtClean="0">
                <a:solidFill>
                  <a:schemeClr val="bg1"/>
                </a:solidFill>
              </a:rPr>
              <a:t>. Страница с избранными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551" y="4008120"/>
            <a:ext cx="9014478" cy="5243851"/>
          </a:xfrm>
          <a:prstGeom prst="rect">
            <a:avLst/>
          </a:prstGeom>
        </p:spPr>
      </p:pic>
      <p:sp>
        <p:nvSpPr>
          <p:cNvPr id="7" name="Поиск по номеру и специальности;…"/>
          <p:cNvSpPr txBox="1">
            <a:spLocks noGrp="1"/>
          </p:cNvSpPr>
          <p:nvPr>
            <p:ph type="body" idx="1"/>
          </p:nvPr>
        </p:nvSpPr>
        <p:spPr>
          <a:xfrm>
            <a:off x="698501" y="1641015"/>
            <a:ext cx="9832340" cy="1513665"/>
          </a:xfrm>
          <a:prstGeom prst="rect">
            <a:avLst/>
          </a:prstGeo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Просмотр избранных фильмов;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Удаление из избранных;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Просмотр детальной информации о фильме.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Возможности"/>
          <p:cNvSpPr txBox="1">
            <a:spLocks noGrp="1"/>
          </p:cNvSpPr>
          <p:nvPr>
            <p:ph type="body" idx="21"/>
          </p:nvPr>
        </p:nvSpPr>
        <p:spPr>
          <a:xfrm>
            <a:off x="698500" y="978204"/>
            <a:ext cx="11607802" cy="67180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anchor="b"/>
          <a:lstStyle/>
          <a:p>
            <a:r>
              <a:rPr lang="ru-RU" dirty="0">
                <a:solidFill>
                  <a:schemeClr val="bg1"/>
                </a:solidFill>
              </a:rPr>
              <a:t>Возможности </a:t>
            </a:r>
          </a:p>
        </p:txBody>
      </p:sp>
    </p:spTree>
    <p:extLst>
      <p:ext uri="{BB962C8B-B14F-4D97-AF65-F5344CB8AC3E}">
        <p14:creationId xmlns:p14="http://schemas.microsoft.com/office/powerpoint/2010/main" val="26994352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48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Щткрытый исходный код;…"/>
          <p:cNvSpPr txBox="1">
            <a:spLocks noGrp="1"/>
          </p:cNvSpPr>
          <p:nvPr>
            <p:ph type="body" sz="half" idx="1"/>
          </p:nvPr>
        </p:nvSpPr>
        <p:spPr>
          <a:xfrm>
            <a:off x="613832" y="1776520"/>
            <a:ext cx="12242778" cy="398339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О</a:t>
            </a:r>
            <a:r>
              <a:rPr lang="ru-RU" dirty="0" smtClean="0">
                <a:solidFill>
                  <a:schemeClr val="bg1"/>
                </a:solidFill>
              </a:rPr>
              <a:t>ткрытый </a:t>
            </a:r>
            <a:r>
              <a:rPr lang="ru-RU" dirty="0">
                <a:solidFill>
                  <a:schemeClr val="bg1"/>
                </a:solidFill>
              </a:rPr>
              <a:t>исходный код;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О</a:t>
            </a:r>
            <a:r>
              <a:rPr lang="ru-RU" dirty="0" smtClean="0">
                <a:solidFill>
                  <a:schemeClr val="bg1"/>
                </a:solidFill>
              </a:rPr>
              <a:t>тсутствие </a:t>
            </a:r>
            <a:r>
              <a:rPr lang="ru-RU" dirty="0">
                <a:solidFill>
                  <a:schemeClr val="bg1"/>
                </a:solidFill>
              </a:rPr>
              <a:t>встроенной рекламы;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У</a:t>
            </a:r>
            <a:r>
              <a:rPr lang="ru-RU" dirty="0" smtClean="0">
                <a:solidFill>
                  <a:schemeClr val="bg1"/>
                </a:solidFill>
              </a:rPr>
              <a:t>добный </a:t>
            </a:r>
            <a:r>
              <a:rPr lang="ru-RU" dirty="0">
                <a:solidFill>
                  <a:schemeClr val="bg1"/>
                </a:solidFill>
              </a:rPr>
              <a:t>интерфейс;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М</a:t>
            </a:r>
            <a:r>
              <a:rPr lang="ru-RU" dirty="0" smtClean="0">
                <a:solidFill>
                  <a:schemeClr val="bg1"/>
                </a:solidFill>
              </a:rPr>
              <a:t>асштабируемость</a:t>
            </a:r>
            <a:r>
              <a:rPr lang="ru-RU" dirty="0">
                <a:solidFill>
                  <a:schemeClr val="bg1"/>
                </a:solidFill>
              </a:rPr>
              <a:t>;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А</a:t>
            </a:r>
            <a:r>
              <a:rPr lang="ru-RU" dirty="0" smtClean="0">
                <a:solidFill>
                  <a:schemeClr val="bg1"/>
                </a:solidFill>
              </a:rPr>
              <a:t>даптивный </a:t>
            </a:r>
            <a:r>
              <a:rPr lang="ru-RU" dirty="0">
                <a:solidFill>
                  <a:schemeClr val="bg1"/>
                </a:solidFill>
              </a:rPr>
              <a:t>интерфейс;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Р</a:t>
            </a:r>
            <a:r>
              <a:rPr lang="ru-RU" dirty="0" smtClean="0">
                <a:solidFill>
                  <a:schemeClr val="bg1"/>
                </a:solidFill>
              </a:rPr>
              <a:t>асширяемость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06" name="Преимущества"/>
          <p:cNvSpPr txBox="1">
            <a:spLocks noGrp="1"/>
          </p:cNvSpPr>
          <p:nvPr>
            <p:ph type="body" idx="21"/>
          </p:nvPr>
        </p:nvSpPr>
        <p:spPr>
          <a:xfrm>
            <a:off x="613832" y="1104718"/>
            <a:ext cx="11607802" cy="67180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anchor="b"/>
          <a:lstStyle/>
          <a:p>
            <a:r>
              <a:rPr lang="ru-RU" dirty="0">
                <a:solidFill>
                  <a:schemeClr val="bg1"/>
                </a:solidFill>
              </a:rPr>
              <a:t>Преимущества</a:t>
            </a:r>
          </a:p>
        </p:txBody>
      </p:sp>
      <p:sp>
        <p:nvSpPr>
          <p:cNvPr id="207" name="9. Выводы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671802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8</a:t>
            </a:r>
            <a:r>
              <a:rPr lang="ru-RU" dirty="0" smtClean="0">
                <a:solidFill>
                  <a:schemeClr val="bg1"/>
                </a:solidFill>
              </a:rPr>
              <a:t>. </a:t>
            </a:r>
            <a:r>
              <a:rPr lang="ru-RU" dirty="0">
                <a:solidFill>
                  <a:schemeClr val="bg1"/>
                </a:solidFill>
              </a:rPr>
              <a:t>Выводы</a:t>
            </a:r>
          </a:p>
        </p:txBody>
      </p:sp>
      <p:sp>
        <p:nvSpPr>
          <p:cNvPr id="208" name="Недостатки"/>
          <p:cNvSpPr txBox="1"/>
          <p:nvPr/>
        </p:nvSpPr>
        <p:spPr>
          <a:xfrm>
            <a:off x="698500" y="4675570"/>
            <a:ext cx="11607802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>
            <a:lvl1pPr algn="l" defTabSz="587022">
              <a:defRPr sz="2000" b="1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Недостатки</a:t>
            </a:r>
          </a:p>
        </p:txBody>
      </p:sp>
      <p:sp>
        <p:nvSpPr>
          <p:cNvPr id="209" name="Отсутствие виджетов;…"/>
          <p:cNvSpPr txBox="1"/>
          <p:nvPr/>
        </p:nvSpPr>
        <p:spPr>
          <a:xfrm>
            <a:off x="613832" y="5347372"/>
            <a:ext cx="12276645" cy="2145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ru-RU" sz="2000" dirty="0">
                <a:solidFill>
                  <a:schemeClr val="bg1"/>
                </a:solidFill>
                <a:sym typeface="Arial"/>
              </a:rPr>
              <a:t>З</a:t>
            </a:r>
            <a:r>
              <a:rPr lang="ru-RU" sz="2000" dirty="0" smtClean="0">
                <a:solidFill>
                  <a:schemeClr val="bg1"/>
                </a:solidFill>
                <a:sym typeface="Arial"/>
              </a:rPr>
              <a:t>ависимость </a:t>
            </a:r>
            <a:r>
              <a:rPr lang="ru-RU" sz="2000" dirty="0">
                <a:solidFill>
                  <a:schemeClr val="bg1"/>
                </a:solidFill>
                <a:sym typeface="Arial"/>
              </a:rPr>
              <a:t>от стороннего сервиса; </a:t>
            </a:r>
            <a:endParaRPr lang="en-US" sz="2000" dirty="0" smtClean="0">
              <a:solidFill>
                <a:schemeClr val="bg1"/>
              </a:solidFill>
              <a:sym typeface="Arial"/>
            </a:endParaRPr>
          </a:p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ru-RU" sz="2000" dirty="0">
                <a:solidFill>
                  <a:schemeClr val="bg1"/>
                </a:solidFill>
                <a:sym typeface="Arial"/>
              </a:rPr>
              <a:t>О</a:t>
            </a:r>
            <a:r>
              <a:rPr lang="ru-RU" sz="2000" dirty="0" smtClean="0">
                <a:solidFill>
                  <a:schemeClr val="bg1"/>
                </a:solidFill>
                <a:sym typeface="Arial"/>
              </a:rPr>
              <a:t>тсутствие </a:t>
            </a:r>
            <a:r>
              <a:rPr lang="ru-RU" sz="2000" dirty="0">
                <a:solidFill>
                  <a:schemeClr val="bg1"/>
                </a:solidFill>
                <a:sym typeface="Arial"/>
              </a:rPr>
              <a:t>выбора цветовой схемы; </a:t>
            </a:r>
            <a:endParaRPr lang="en-US" sz="2000" dirty="0" smtClean="0">
              <a:solidFill>
                <a:schemeClr val="bg1"/>
              </a:solidFill>
              <a:sym typeface="Arial"/>
            </a:endParaRPr>
          </a:p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ru-RU" sz="2000" dirty="0">
                <a:solidFill>
                  <a:schemeClr val="bg1"/>
                </a:solidFill>
                <a:sym typeface="Arial"/>
              </a:rPr>
              <a:t>О</a:t>
            </a:r>
            <a:r>
              <a:rPr lang="ru-RU" sz="2000" dirty="0" smtClean="0">
                <a:solidFill>
                  <a:schemeClr val="bg1"/>
                </a:solidFill>
                <a:sym typeface="Arial"/>
              </a:rPr>
              <a:t>тсутствие </a:t>
            </a:r>
            <a:r>
              <a:rPr lang="ru-RU" sz="2000" dirty="0">
                <a:solidFill>
                  <a:schemeClr val="bg1"/>
                </a:solidFill>
                <a:sym typeface="Arial"/>
              </a:rPr>
              <a:t>офлайн-доступа; </a:t>
            </a:r>
            <a:endParaRPr lang="en-US" sz="2000" dirty="0" smtClean="0">
              <a:solidFill>
                <a:schemeClr val="bg1"/>
              </a:solidFill>
              <a:sym typeface="Arial"/>
            </a:endParaRPr>
          </a:p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ru-RU" sz="2000" dirty="0">
                <a:solidFill>
                  <a:schemeClr val="bg1"/>
                </a:solidFill>
                <a:sym typeface="Arial"/>
              </a:rPr>
              <a:t>О</a:t>
            </a:r>
            <a:r>
              <a:rPr lang="ru-RU" sz="2000" dirty="0" smtClean="0">
                <a:solidFill>
                  <a:schemeClr val="bg1"/>
                </a:solidFill>
                <a:sym typeface="Arial"/>
              </a:rPr>
              <a:t>тсутствие </a:t>
            </a:r>
            <a:r>
              <a:rPr lang="ru-RU" sz="2000" dirty="0">
                <a:solidFill>
                  <a:schemeClr val="bg1"/>
                </a:solidFill>
                <a:sym typeface="Arial"/>
              </a:rPr>
              <a:t>возможности просматривать фильмы.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Отсутствие виджетов;…">
            <a:extLst>
              <a:ext uri="{FF2B5EF4-FFF2-40B4-BE49-F238E27FC236}">
                <a16:creationId xmlns:a16="http://schemas.microsoft.com/office/drawing/2014/main" id="{2F8F5178-DDB2-ECC2-8A32-FF6F540AAF0B}"/>
              </a:ext>
            </a:extLst>
          </p:cNvPr>
          <p:cNvSpPr txBox="1"/>
          <p:nvPr/>
        </p:nvSpPr>
        <p:spPr>
          <a:xfrm>
            <a:off x="613832" y="7924959"/>
            <a:ext cx="12276645" cy="1072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pPr marL="381000" indent="-381000" algn="l">
              <a:lnSpc>
                <a:spcPct val="150000"/>
              </a:lnSpc>
              <a:buSzPct val="123000"/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endParaRPr lang="ru-RU"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370</Words>
  <Application>Microsoft Office PowerPoint</Application>
  <PresentationFormat>Произвольный</PresentationFormat>
  <Paragraphs>79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Helvetica Neue</vt:lpstr>
      <vt:lpstr>Helvetica Neue Medium</vt:lpstr>
      <vt:lpstr>21_BasicWhite</vt:lpstr>
      <vt:lpstr>Сервис рекомендаций фильмов с использованием ИИ</vt:lpstr>
      <vt:lpstr>1. Цель и задачи</vt:lpstr>
      <vt:lpstr>2. Используемые технологии</vt:lpstr>
      <vt:lpstr>3. Основные особенности проекта</vt:lpstr>
      <vt:lpstr>4. Поиск фильмов</vt:lpstr>
      <vt:lpstr>5. Подбор по критериям</vt:lpstr>
      <vt:lpstr>6. Похожие фильмы</vt:lpstr>
      <vt:lpstr>7. Адаптивность интерфейса</vt:lpstr>
      <vt:lpstr>8. Страница с избранными</vt:lpstr>
      <vt:lpstr>8. 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Программное средство для просмотра и  Обработки информации о расписании занятий</dc:title>
  <dc:creator>Полина Кобринец</dc:creator>
  <cp:lastModifiedBy>Полина</cp:lastModifiedBy>
  <cp:revision>25</cp:revision>
  <dcterms:modified xsi:type="dcterms:W3CDTF">2025-05-19T09:17:07Z</dcterms:modified>
</cp:coreProperties>
</file>